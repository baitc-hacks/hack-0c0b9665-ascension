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d2663e31ee4425" /><Relationship Type="http://schemas.openxmlformats.org/officeDocument/2006/relationships/extended-properties" Target="/docProps/app.xml" Id="R95031b75994740cc" /><Relationship Type="http://schemas.openxmlformats.org/officeDocument/2006/relationships/officeDocument" Target="/ppt/presentation.xml" Id="R3d0cfbcf9fe742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bfd36dab9b4b16"/>
  </p:sldMasterIdLst>
  <p:notesMasterIdLst>
    <p:notesMasterId xmlns:r="http://schemas.openxmlformats.org/officeDocument/2006/relationships" r:id="Rd1340bf4c63c4b1c"/>
  </p:notesMasterIdLst>
  <p:sldIdLst>
    <p:sldId xmlns:r="http://schemas.openxmlformats.org/officeDocument/2006/relationships" id="256" r:id="Rc2c8687c05924abb"/>
    <p:sldId xmlns:r="http://schemas.openxmlformats.org/officeDocument/2006/relationships" id="257" r:id="Rdd14d82162c4417c"/>
    <p:sldId xmlns:r="http://schemas.openxmlformats.org/officeDocument/2006/relationships" id="258" r:id="R63172f0e8c8f4e33"/>
    <p:sldId xmlns:r="http://schemas.openxmlformats.org/officeDocument/2006/relationships" id="259" r:id="Rc06993ad7e324b63"/>
    <p:sldId xmlns:r="http://schemas.openxmlformats.org/officeDocument/2006/relationships" id="260" r:id="R23b85639566c42f2"/>
    <p:sldId xmlns:r="http://schemas.openxmlformats.org/officeDocument/2006/relationships" id="261" r:id="R554d862fb46c433f"/>
    <p:sldId xmlns:r="http://schemas.openxmlformats.org/officeDocument/2006/relationships" id="262" r:id="R65ef1a4b77f24b31"/>
    <p:sldId xmlns:r="http://schemas.openxmlformats.org/officeDocument/2006/relationships" id="263" r:id="R6914f15ebf1b4dbe"/>
    <p:sldId xmlns:r="http://schemas.openxmlformats.org/officeDocument/2006/relationships" id="264" r:id="Re062e893b3c34c47"/>
    <p:sldId xmlns:r="http://schemas.openxmlformats.org/officeDocument/2006/relationships" id="265" r:id="R70a26ed8f03f4ea1"/>
    <p:sldId xmlns:r="http://schemas.openxmlformats.org/officeDocument/2006/relationships" id="266" r:id="R3a414813b59c4cf9"/>
    <p:sldId xmlns:r="http://schemas.openxmlformats.org/officeDocument/2006/relationships" id="267" r:id="R81c3e563460d40ef"/>
    <p:sldId xmlns:r="http://schemas.openxmlformats.org/officeDocument/2006/relationships" id="268" r:id="R4a7d0b39e4124d30"/>
    <p:sldId xmlns:r="http://schemas.openxmlformats.org/officeDocument/2006/relationships" id="269" r:id="R1f366020485f46a2"/>
    <p:sldId xmlns:r="http://schemas.openxmlformats.org/officeDocument/2006/relationships" id="270" r:id="R01ccd55b81b04a9a"/>
    <p:sldId xmlns:r="http://schemas.openxmlformats.org/officeDocument/2006/relationships" id="271" r:id="R009b0d159c134f1e"/>
    <p:sldId xmlns:r="http://schemas.openxmlformats.org/officeDocument/2006/relationships" id="272" r:id="R3a2802a80a7b43df"/>
    <p:sldId xmlns:r="http://schemas.openxmlformats.org/officeDocument/2006/relationships" id="273" r:id="R5d205af7ce3949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c60be989a74496" /><Relationship Type="http://schemas.openxmlformats.org/officeDocument/2006/relationships/slideMaster" Target="/ppt/slideMasters/slideMaster1.xml" Id="R59bfd36dab9b4b16" /><Relationship Type="http://schemas.openxmlformats.org/officeDocument/2006/relationships/notesMaster" Target="/ppt/notesMasters/notesMaster1.xml" Id="Rd1340bf4c63c4b1c" /><Relationship Type="http://schemas.openxmlformats.org/officeDocument/2006/relationships/presProps" Target="/ppt/presProps.xml" Id="R2be1227c5d0e4472" /><Relationship Type="http://schemas.openxmlformats.org/officeDocument/2006/relationships/tableStyles" Target="/ppt/tableStyles.xml" Id="R9088039f3ced4d32" /><Relationship Type="http://schemas.openxmlformats.org/officeDocument/2006/relationships/slide" Target="/ppt/slides/slide1.xml" Id="Rc2c8687c05924abb" /><Relationship Type="http://schemas.openxmlformats.org/officeDocument/2006/relationships/slide" Target="/ppt/slides/slide2.xml" Id="Rdd14d82162c4417c" /><Relationship Type="http://schemas.openxmlformats.org/officeDocument/2006/relationships/slide" Target="/ppt/slides/slide3.xml" Id="R63172f0e8c8f4e33" /><Relationship Type="http://schemas.openxmlformats.org/officeDocument/2006/relationships/slide" Target="/ppt/slides/slide4.xml" Id="Rc06993ad7e324b63" /><Relationship Type="http://schemas.openxmlformats.org/officeDocument/2006/relationships/slide" Target="/ppt/slides/slide5.xml" Id="R23b85639566c42f2" /><Relationship Type="http://schemas.openxmlformats.org/officeDocument/2006/relationships/slide" Target="/ppt/slides/slide6.xml" Id="R554d862fb46c433f" /><Relationship Type="http://schemas.openxmlformats.org/officeDocument/2006/relationships/slide" Target="/ppt/slides/slide7.xml" Id="R65ef1a4b77f24b31" /><Relationship Type="http://schemas.openxmlformats.org/officeDocument/2006/relationships/slide" Target="/ppt/slides/slide8.xml" Id="R6914f15ebf1b4dbe" /><Relationship Type="http://schemas.openxmlformats.org/officeDocument/2006/relationships/slide" Target="/ppt/slides/slide9.xml" Id="Re062e893b3c34c47" /><Relationship Type="http://schemas.openxmlformats.org/officeDocument/2006/relationships/slide" Target="/ppt/slides/slide10.xml" Id="R70a26ed8f03f4ea1" /><Relationship Type="http://schemas.openxmlformats.org/officeDocument/2006/relationships/slide" Target="/ppt/slides/slide11.xml" Id="R3a414813b59c4cf9" /><Relationship Type="http://schemas.openxmlformats.org/officeDocument/2006/relationships/slide" Target="/ppt/slides/slide12.xml" Id="R81c3e563460d40ef" /><Relationship Type="http://schemas.openxmlformats.org/officeDocument/2006/relationships/slide" Target="/ppt/slides/slide13.xml" Id="R4a7d0b39e4124d30" /><Relationship Type="http://schemas.openxmlformats.org/officeDocument/2006/relationships/slide" Target="/ppt/slides/slide14.xml" Id="R1f366020485f46a2" /><Relationship Type="http://schemas.openxmlformats.org/officeDocument/2006/relationships/slide" Target="/ppt/slides/slide15.xml" Id="R01ccd55b81b04a9a" /><Relationship Type="http://schemas.openxmlformats.org/officeDocument/2006/relationships/slide" Target="/ppt/slides/slide16.xml" Id="R009b0d159c134f1e" /><Relationship Type="http://schemas.openxmlformats.org/officeDocument/2006/relationships/slide" Target="/ppt/slides/slide17.xml" Id="R3a2802a80a7b43df" /><Relationship Type="http://schemas.openxmlformats.org/officeDocument/2006/relationships/slide" Target="/ppt/slides/slide18.xml" Id="R5d205af7ce3949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10342c36d14f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c9e45eb1df4735" /><Relationship Type="http://schemas.openxmlformats.org/officeDocument/2006/relationships/notesMaster" Target="/ppt/notesMasters/notesMaster1.xml" Id="Rce685ce2fa5a47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30a49d2cc14c95" /><Relationship Type="http://schemas.openxmlformats.org/officeDocument/2006/relationships/notesMaster" Target="/ppt/notesMasters/notesMaster1.xml" Id="R96a21426fcf940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c49e0160b84033" /><Relationship Type="http://schemas.openxmlformats.org/officeDocument/2006/relationships/notesMaster" Target="/ppt/notesMasters/notesMaster1.xml" Id="Rb27fa38e34094a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5af3599c4c41a3" /><Relationship Type="http://schemas.openxmlformats.org/officeDocument/2006/relationships/notesMaster" Target="/ppt/notesMasters/notesMaster1.xml" Id="R557679e20ab84b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2ecebcdfaa4c70" /><Relationship Type="http://schemas.openxmlformats.org/officeDocument/2006/relationships/notesMaster" Target="/ppt/notesMasters/notesMaster1.xml" Id="R2879741282d240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16e2b78b644d45" /><Relationship Type="http://schemas.openxmlformats.org/officeDocument/2006/relationships/notesMaster" Target="/ppt/notesMasters/notesMaster1.xml" Id="Rf75d1ddb3c9747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854b073f624cce" /><Relationship Type="http://schemas.openxmlformats.org/officeDocument/2006/relationships/notesMaster" Target="/ppt/notesMasters/notesMaster1.xml" Id="R05d8669b4dfa40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30c0022530477f" /><Relationship Type="http://schemas.openxmlformats.org/officeDocument/2006/relationships/notesMaster" Target="/ppt/notesMasters/notesMaster1.xml" Id="R8f087a25a13040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4c7af26a824302" /><Relationship Type="http://schemas.openxmlformats.org/officeDocument/2006/relationships/notesMaster" Target="/ppt/notesMasters/notesMaster1.xml" Id="R545397d489b042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ef42ed8c594b7a" /><Relationship Type="http://schemas.openxmlformats.org/officeDocument/2006/relationships/notesMaster" Target="/ppt/notesMasters/notesMaster1.xml" Id="R7ccf8789f43549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a200dd11a04e3c" /><Relationship Type="http://schemas.openxmlformats.org/officeDocument/2006/relationships/notesMaster" Target="/ppt/notesMasters/notesMaster1.xml" Id="R2f600f005c904d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0a9e63bd1294bfd" /><Relationship Type="http://schemas.openxmlformats.org/officeDocument/2006/relationships/notesMaster" Target="/ppt/notesMasters/notesMaster1.xml" Id="R8be28e00aa5a43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4c7b72d0e46437c" /><Relationship Type="http://schemas.openxmlformats.org/officeDocument/2006/relationships/notesMaster" Target="/ppt/notesMasters/notesMaster1.xml" Id="Rbc511ffaa658469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5ac132bc9984274" /><Relationship Type="http://schemas.openxmlformats.org/officeDocument/2006/relationships/notesMaster" Target="/ppt/notesMasters/notesMaster1.xml" Id="Re97bce2f271d4e7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9aed28738a5472b" /><Relationship Type="http://schemas.openxmlformats.org/officeDocument/2006/relationships/notesMaster" Target="/ppt/notesMasters/notesMaster1.xml" Id="Rd821e76b1f11429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cf580a5fd1c45ab" /><Relationship Type="http://schemas.openxmlformats.org/officeDocument/2006/relationships/notesMaster" Target="/ppt/notesMasters/notesMaster1.xml" Id="Rbf5bb8b28c49431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db8c97d6fb94f6f" /><Relationship Type="http://schemas.openxmlformats.org/officeDocument/2006/relationships/notesMaster" Target="/ppt/notesMasters/notesMaster1.xml" Id="Rea52585b2ad844a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1fa0bcf311b40ca" /><Relationship Type="http://schemas.openxmlformats.org/officeDocument/2006/relationships/notesMaster" Target="/ppt/notesMasters/notesMaster1.xml" Id="R48e6958cbb6049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Речь, 25 секунд.</a:t>
            </a:r>
          </a:p>
          <a:p xmlns:a="http://schemas.openxmlformats.org/drawingml/2006/main">
            <a:r>
              <a:t>Представьте, что вы аким и у вас ограниченный бюджет. Нужно выбрать пять решений для города и объяснить, почему именно они важнее остальных. Мы создали Ascension — симулятор, который делает этот выбор проверяемым. Он показывает, как меняется качество жизни, какой район остаётся слабейшим и что получится, если направить те же ресурсы иначе. Мы превращаем обсуждение инициатив в сравнение конкретных вариантов.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Ascension. Аким на 5 часов. Объяснимый симулятор городских решений. Изображение: концептуальная иллюстрация, созданная ImageGen, не карта реального города.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https://github.com/BAITC-Hacks/hack-0c0b9665-ascension/blob/5ef36e0efc562360c58d0730e3d10f96f68cafbf/README.md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Снимок проекта: удалённый main 5ef36e0efc562360c58d0730e3d10f96f68cafbf, 23 сентября 2026, 16:48 GMT+5. Числовое ядро перепроверено на 3562cce и не изменилось в последующей дельте. Публичный SHA не установлен этой проверкой.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Речь, 30 секунд.</a:t>
            </a:r>
          </a:p>
          <a:p xmlns:a="http://schemas.openxmlformats.org/drawingml/2006/main">
            <a:r>
              <a:t>В городском планировании полезных инициатив всегда больше, чем доступных ресурсов. Школа, поликлиника, транспорт и безопасность конкурируют за один бюджет. При этом хороший средний результат ещё не означает, что улучшения дошли до каждого района. Поэтому в нашем продукте рядом с общим индексом видны положение слабейшего района и критические показатели. Пользователь может объяснить решение через понятный компромисс: что улучшается, кому становится лучше и сколько это стоит.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https://github.com/BAITC-Hacks/hack-0c0b9665-ascension/blob/5ef36e0efc562360c58d0730e3d10f96f68cafbf/README.md</a:t>
            </a:r>
          </a:p>
          <a:p xmlns:a="http://schemas.openxmlformats.org/drawingml/2006/main">
            <a:r>
              <a:t>https://github.com/BAITC-Hacks/hack-0c0b9665-ascension/blob/5ef36e0efc562360c58d0730e3d10f96f68cafbf/data/city.json</a:t>
            </a:r>
          </a:p>
          <a:p xmlns:a="http://schemas.openxmlformats.org/drawingml/2006/main">
            <a:r>
              <a:t>https://github.com/BAITC-Hacks/hack-0c0b9665-ascension/blob/5ef36e0efc562360c58d0730e3d10f96f68cafbf/src/core/simulator.js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Снимок проекта: удалённый main 5ef36e0efc562360c58d0730e3d10f96f68cafbf, 23 сентября 2026, 16:48 GMT+5. Числовое ядро перепроверено на 3562cce и не изменилось в последующей дельте. Публичный SHA не установлен этой проверкой.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Речь, 30 секунд.</a:t>
            </a:r>
          </a:p>
          <a:p xmlns:a="http://schemas.openxmlformats.org/drawingml/2006/main">
            <a:r>
              <a:t>В основе демо — пять учебных районов Астаны, четырнадцать мер и бюджет сто условных единиц. Пользователь выбирает ровно пять уникальных решений, а система проверяет бюджет, направления и несовместимости. Дальше он проходит весь путь: составляет план, получает результат, сравнивает альтернативы, читает объяснение и сохраняет обоснование. Карта помогает увидеть территорию решения, а таблица позволяет проверить цифры. География реальная; показатели и эффекты в этой версии заданы учебной моделью кейса.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https://github.com/BAITC-Hacks/hack-0c0b9665-ascension/blob/5ef36e0efc562360c58d0730e3d10f96f68cafbf/README.md</a:t>
            </a:r>
          </a:p>
          <a:p xmlns:a="http://schemas.openxmlformats.org/drawingml/2006/main">
            <a:r>
              <a:t>https://github.com/BAITC-Hacks/hack-0c0b9665-ascension/blob/5ef36e0efc562360c58d0730e3d10f96f68cafbf/docs/map-data.md</a:t>
            </a:r>
          </a:p>
          <a:p xmlns:a="http://schemas.openxmlformats.org/drawingml/2006/main">
            <a:r>
              <a:t>https://github.com/BAITC-Hacks/hack-0c0b9665-ascension/blob/5ef36e0efc562360c58d0730e3d10f96f68cafbf/docs/city-explorer.md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Снимок проекта: удалённый main 5ef36e0efc562360c58d0730e3d10f96f68cafbf, 23 сентября 2026, 16:48 GMT+5. Числовое ядро перепроверено на 3562cce и не изменилось в последующей дельте. Публичный SHA не установлен этой проверкой.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Речь, 35 секунд.</a:t>
            </a:r>
          </a:p>
          <a:p xmlns:a="http://schemas.openxmlformats.org/drawingml/2006/main">
            <a:r>
              <a:t>Покажем конкретный пример. В Нуре размещаем школу с детсадом, поликлинику и освещение с камерами. Добавляем городскую цифровую платформу обращений и перевод частного сектора Сарыарки на чистое топливо. Расход — девяносто пять единиц из ста. Общий индекс повышается с 52,56 до 56,54, а число критических показателей снижается с двух до нуля. Нура остаётся слабейшим районом, но её оценка растёт до 52,96. Эти числа можно повторить одним и тем же набором решений.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https://github.com/BAITC-Hacks/hack-0c0b9665-ascension/blob/5ef36e0efc562360c58d0730e3d10f96f68cafbf/README.md</a:t>
            </a:r>
          </a:p>
          <a:p xmlns:a="http://schemas.openxmlformats.org/drawingml/2006/main">
            <a:r>
              <a:t>https://github.com/BAITC-Hacks/hack-0c0b9665-ascension/blob/5ef36e0efc562360c58d0730e3d10f96f68cafbf/tests/simulator.acceptance.test.js</a:t>
            </a:r>
          </a:p>
          <a:p xmlns:a="http://schemas.openxmlformats.org/drawingml/2006/main">
            <a:r>
              <a:t>https://ascension-city-map.azamatbreach.workers.dev/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Снимок проекта: удалённый main 5ef36e0efc562360c58d0730e3d10f96f68cafbf, 23 сентября 2026, 16:48 GMT+5. Числовое ядро перепроверено на 3562cce и не изменилось в последующей дельте. Публичный SHA не установлен этой проверкой.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Речь, 35 секунд.</a:t>
            </a:r>
          </a:p>
          <a:p xmlns:a="http://schemas.openxmlformats.org/drawingml/2006/main">
            <a:r>
              <a:t>Теперь меняем только расположение школы: переносим её из Нуры в Есиль. Все остальные решения и расход девяносто пять сохраняются. Общий индекс становится 55,30, и один показатель Нуры остаётся критическим. Так мы показываем ценность продукта: одинаковая сумма даёт разный результат в зависимости от территории. Сравнение A и B сохраняет оба расчёта и показывает, какие районы выиграли или потеряли. Решение можно обсудить по этим изменениям, а затем вернуть предыдущий план.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https://github.com/BAITC-Hacks/hack-0c0b9665-ascension/blob/5ef36e0efc562360c58d0730e3d10f96f68cafbf/README.md</a:t>
            </a:r>
          </a:p>
          <a:p xmlns:a="http://schemas.openxmlformats.org/drawingml/2006/main">
            <a:r>
              <a:t>https://github.com/BAITC-Hacks/hack-0c0b9665-ascension/blob/5ef36e0efc562360c58d0730e3d10f96f68cafbf/tests/simulator.acceptance.test.js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Снимок проекта: удалённый main 5ef36e0efc562360c58d0730e3d10f96f68cafbf, 23 сентября 2026, 16:48 GMT+5. Числовое ядро перепроверено на 3562cce и не изменилось в последующей дельте. Публичный SHA не установлен этой проверкой.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Речь, 35 секунд.</a:t>
            </a:r>
          </a:p>
          <a:p xmlns:a="http://schemas.openxmlformats.org/drawingml/2006/main">
            <a:r>
              <a:t>Система также помогает найти альтернативы одной мере. Для базового примера без дополнительных ограничений она проверяет сто восемьдесят одну замену; сто семнадцать проходят правила модели. Один из вариантов заменяет меру по чистому топливу в Сарыарке на M3 в Нуре. При расходе сто индекс достигает 57,21. При этом показатели воздуха и ЖКХ Сарыарки хуже, чем в исходном плане. Поэтому важен осознанный выбор приоритетов. Другие варианты экономят бюджет. Это полный поиск в пределах одной замены; глобальный оптимум всего плана мы здесь не заявляем.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https://github.com/BAITC-Hacks/hack-0c0b9665-ascension/blob/5ef36e0efc562360c58d0730e3d10f96f68cafbf/docs/policy-options.md</a:t>
            </a:r>
          </a:p>
          <a:p xmlns:a="http://schemas.openxmlformats.org/drawingml/2006/main">
            <a:r>
              <a:t>https://github.com/BAITC-Hacks/hack-0c0b9665-ascension/blob/5ef36e0efc562360c58d0730e3d10f96f68cafbf/docs/policy-priority-constraints.md</a:t>
            </a:r>
          </a:p>
          <a:p xmlns:a="http://schemas.openxmlformats.org/drawingml/2006/main">
            <a:r>
              <a:t>https://github.com/BAITC-Hacks/hack-0c0b9665-ascension/blob/5ef36e0efc562360c58d0730e3d10f96f68cafbf/src/core/policy-options.js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Снимок проекта: удалённый main 5ef36e0efc562360c58d0730e3d10f96f68cafbf, 23 сентября 2026, 16:48 GMT+5. Числовое ядро перепроверено на 3562cce и не изменилось в последующей дельте. Публичный SHA не установлен этой проверкой.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Речь, 30 секунд.</a:t>
            </a:r>
          </a:p>
          <a:p xmlns:a="http://schemas.openxmlformats.org/drawingml/2006/main">
            <a:r>
              <a:t>Числа рассчитывает детерминированное ядро. AI получает готовые факты и помогает объяснить сильные стороны, риски и доступные направления сравнения. Перед объяснением сервер повторно проверяет план. Сервис объяснения не меняет формулу и не назначает реальные поручения. Если AI недоступен, пользователь всё равно получает расчёт и явно обозначенное расчётное объяснение. Поэтому демонстрация не зависит от случайного ответа модели, а любой числовой вывод можно сверить с таблицей результатов.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https://github.com/BAITC-Hacks/hack-0c0b9665-ascension/blob/5ef36e0efc562360c58d0730e3d10f96f68cafbf/docs/ai-grounding.md</a:t>
            </a:r>
          </a:p>
          <a:p xmlns:a="http://schemas.openxmlformats.org/drawingml/2006/main">
            <a:r>
              <a:t>https://github.com/BAITC-Hacks/hack-0c0b9665-ascension/blob/5ef36e0efc562360c58d0730e3d10f96f68cafbf/src/ai/explain.js</a:t>
            </a:r>
          </a:p>
          <a:p xmlns:a="http://schemas.openxmlformats.org/drawingml/2006/main">
            <a:r>
              <a:t>https://github.com/BAITC-Hacks/hack-0c0b9665-ascension/blob/5ef36e0efc562360c58d0730e3d10f96f68cafbf/src/core/simulator.js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Снимок проекта: удалённый main 5ef36e0efc562360c58d0730e3d10f96f68cafbf, 23 сентября 2026, 16:48 GMT+5. Числовое ядро перепроверено на 3562cce и не изменилось в последующей дельте. Публичный SHA не установлен этой проверкой.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Речь, 40 секунд.</a:t>
            </a:r>
          </a:p>
          <a:p xmlns:a="http://schemas.openxmlformats.org/drawingml/2006/main">
            <a:r>
              <a:t>Следующий шаг — подготовка решения к работе. По свежему расчёту можно сформировать автономную записку в HTML и создать пять черновиков поручений. Человек заполняет ответственного, срок, критерий проверки и подтверждение выполнения. В паспорте реализации отдельно указываются объект, KPI, капитальные и эксплуатационные затраты, включая период OPEX. Реальные наблюдения получают источник и метод проверки. Поручения выгружаются в JSON и CSV, паспорта данных — в JSON. Они дополняют обоснование, но не подменяют учебные показатели и не пересчитывают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https://github.com/BAITC-Hacks/hack-0c0b9665-ascension/blob/5ef36e0efc562360c58d0730e3d10f96f68cafbf/docs/decision-brief.md</a:t>
            </a:r>
          </a:p>
          <a:p xmlns:a="http://schemas.openxmlformats.org/drawingml/2006/main">
            <a:r>
              <a:t>https://github.com/BAITC-Hacks/hack-0c0b9665-ascension/blob/5ef36e0efc562360c58d0730e3d10f96f68cafbf/docs/action-register.md</a:t>
            </a:r>
          </a:p>
          <a:p xmlns:a="http://schemas.openxmlformats.org/drawingml/2006/main">
            <a:r>
              <a:t>https://github.com/BAITC-Hacks/hack-0c0b9665-ascension/blob/5ef36e0efc562360c58d0730e3d10f96f68cafbf/docs/evidence-register.md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Снимок проекта: удалённый main 5ef36e0efc562360c58d0730e3d10f96f68cafbf, 23 сентября 2026, 16:48 GMT+5. Числовое ядро перепроверено на 3562cce и не изменилось в последующей дельте. Публичный SHA не установлен этой проверкой.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Речь, 30 секунд.</a:t>
            </a:r>
          </a:p>
          <a:p xmlns:a="http://schemas.openxmlformats.org/drawingml/2006/main">
            <a:r>
              <a:t>Мы предусмотрели и локальный путь обратной связи: житель отправляет обращение, получает номер и личный код, сотрудник назначает ответственного и меняет статус, а житель видит результат. Этот сценарий доступен на локальном сервере; Telegram служит дополнительным каналом при отдельной настройке. Категорию и приоритет предлагают локальные правила, которые может исправить сотрудник. Обращения пока не меняют модель города автоматически. Так сохраняется понятная граница между сообщением жителя, проверенным фактом и расчётной гипотезой.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https://github.com/BAITC-Hacks/hack-0c0b9665-ascension/blob/5ef36e0efc562360c58d0730e3d10f96f68cafbf/docs/citizen-contract.md</a:t>
            </a:r>
          </a:p>
          <a:p xmlns:a="http://schemas.openxmlformats.org/drawingml/2006/main">
            <a:r>
              <a:t>https://github.com/BAITC-Hacks/hack-0c0b9665-ascension/blob/5ef36e0efc562360c58d0730e3d10f96f68cafbf/docs/telegram-ux.md</a:t>
            </a:r>
          </a:p>
          <a:p xmlns:a="http://schemas.openxmlformats.org/drawingml/2006/main">
            <a:r>
              <a:t>https://github.com/BAITC-Hacks/hack-0c0b9665-ascension/blob/5ef36e0efc562360c58d0730e3d10f96f68cafbf/src/worker.js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Снимок проекта: удалённый main 5ef36e0efc562360c58d0730e3d10f96f68cafbf, 23 сентября 2026, 16:48 GMT+5. Числовое ядро перепроверено на 3562cce и не изменилось в последующей дельте. Публичный SHA не установлен этой проверкой.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Речь, 35 секунд.</a:t>
            </a:r>
          </a:p>
          <a:p xmlns:a="http://schemas.openxmlformats.org/drawingml/2006/main">
            <a:r>
              <a:t>Свежие изменения расширили рабочий маршрут: записка, поручения, паспорта данных и явный период эксплуатационных затрат. На карте появились учебные секторы и транспортный справочник. В поиске можно закрепить решение и защитить показатель от ухудшения. Код облачных обращений уже объединён; публичный запуск проходит отдельную приёмку. Подготовлены также текстовый AI-план, поквартальная динамика и общий реестр команды. Их подключение к общему интерфейсу и API — следующий этап. Сегодня мы показываем расчёт, сравнение и подготовку обоснованного решения.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https://github.com/BAITC-Hacks/hack-0c0b9665-ascension/blob/5ef36e0efc562360c58d0730e3d10f96f68cafbf/docs/operator-integration.md</a:t>
            </a:r>
          </a:p>
          <a:p xmlns:a="http://schemas.openxmlformats.org/drawingml/2006/main">
            <a:r>
              <a:t>https://github.com/BAITC-Hacks/hack-0c0b9665-ascension/blob/5ef36e0efc562360c58d0730e3d10f96f68cafbf/docs/action-register.md</a:t>
            </a:r>
          </a:p>
          <a:p xmlns:a="http://schemas.openxmlformats.org/drawingml/2006/main">
            <a:r>
              <a:t>https://github.com/BAITC-Hacks/hack-0c0b9665-ascension/blob/5ef36e0efc562360c58d0730e3d10f96f68cafbf/docs/transit-data.md</a:t>
            </a:r>
          </a:p>
          <a:p xmlns:a="http://schemas.openxmlformats.org/drawingml/2006/main">
            <a:r>
              <a:t>https://github.com/BAITC-Hacks/hack-0c0b9665-ascension/blob/5ef36e0efc562360c58d0730e3d10f96f68cafbf/docs/workspace.md</a:t>
            </a:r>
          </a:p>
          <a:p xmlns:a="http://schemas.openxmlformats.org/drawingml/2006/main">
            <a:r>
              <a:t>https://github.com/BAITC-Hacks/hack-0c0b9665-ascension/blob/5ef36e0efc562360c58d0730e3d10f96f68cafbf/docs/command-center.md</a:t>
            </a:r>
          </a:p>
          <a:p xmlns:a="http://schemas.openxmlformats.org/drawingml/2006/main">
            <a:r>
              <a:t>https://github.com/BAITC-Hacks/hack-0c0b9665-ascension/blob/5ef36e0efc562360c58d0730e3d10f96f68cafbf/src/worker.js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Снимок проекта: удалённый main 5ef36e0efc562360c58d0730e3d10f96f68cafbf, 23 сентября 2026, 16:48 GMT+5. Числовое ядро перепроверено на 3562cce и не изменилось в последующей дельте. Публичный SHA не установлен этой проверкой.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Речь, 30 секунд.</a:t>
            </a:r>
          </a:p>
          <a:p xmlns:a="http://schemas.openxmlformats.org/drawingml/2006/main">
            <a:r>
              <a:t>Сейчас у нас есть воспроизводимый симулятор с публичным демо и локальные рабочие сценарии. Следующий полезный шаг — пилот на одном управленческом вопросе с подтверждёнными данными. Нужно согласовать показатели, источники, реальные цены и эффекты, затем сравнить расчёт с экспертной оценкой. Успех пилота мы предлагаем измерять временем подготовки вариантов, полнотой обоснований и долей выводов с проверенным источником. Это проверит практическую ценность до масштабирования на весь город.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https://github.com/BAITC-Hacks/hack-0c0b9665-ascension/blob/5ef36e0efc562360c58d0730e3d10f96f68cafbf/README.md</a:t>
            </a:r>
          </a:p>
          <a:p xmlns:a="http://schemas.openxmlformats.org/drawingml/2006/main">
            <a:r>
              <a:t>https://github.com/BAITC-Hacks/hack-0c0b9665-ascension/blob/5ef36e0efc562360c58d0730e3d10f96f68cafbf/docs/evidence-register.md</a:t>
            </a:r>
          </a:p>
          <a:p xmlns:a="http://schemas.openxmlformats.org/drawingml/2006/main">
            <a:r>
              <a:t>https://github.com/BAITC-Hacks/hack-0c0b9665-ascension/blob/5ef36e0efc562360c58d0730e3d10f96f68cafbf/docs/workspace.md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Снимок проекта: удалённый main 5ef36e0efc562360c58d0730e3d10f96f68cafbf, 23 сентября 2026, 16:48 GMT+5. Числовое ядро перепроверено на 3562cce и не изменилось в последующей дельте. Публичный SHA не установлен этой проверкой.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Речь, 25 секунд.</a:t>
            </a:r>
          </a:p>
          <a:p xmlns:a="http://schemas.openxmlformats.org/drawingml/2006/main">
            <a:r>
              <a:t>Ascension соединяет выбор мер, проверяемый расчёт, сравнение районов и подготовку материалов к действию. Пользователь видит, почему один план предпочтительнее другого и где остаются ограничения. Мы готовы показать это на одном изменении: при том же бюджете перенести школу между районами и сразу увидеть последствия. Давайте пройдём этот сценарий вместе, а затем проверим любую из показанных цифр.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Приглашение к демонстрации и вопросам. Показать A, перенести школу в Есиль, сравнить B. Основная защита заканчивается здесь.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https://github.com/BAITC-Hacks/hack-0c0b9665-ascension/blob/5ef36e0efc562360c58d0730e3d10f96f68cafbf/README.md</a:t>
            </a:r>
          </a:p>
          <a:p xmlns:a="http://schemas.openxmlformats.org/drawingml/2006/main">
            <a:r>
              <a:t>https://ascension-city-map.azamatbreach.workers.dev/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Снимок проекта: удалённый main 5ef36e0efc562360c58d0730e3d10f96f68cafbf, 23 сентября 2026, 16:48 GMT+5. Числовое ядро перепроверено на 3562cce и не изменилось в последующей дельте. Публичный SHA не установлен этой проверкой.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https://github.com/BAITC-Hacks/hack-0c0b9665-ascension/blob/5ef36e0efc562360c58d0730e3d10f96f68cafbf/src/core/simulator.js</a:t>
            </a:r>
          </a:p>
          <a:p xmlns:a="http://schemas.openxmlformats.org/drawingml/2006/main">
            <a:r>
              <a:t>https://github.com/BAITC-Hacks/hack-0c0b9665-ascension/blob/5ef36e0efc562360c58d0730e3d10f96f68cafbf/data/city.json</a:t>
            </a:r>
          </a:p>
          <a:p xmlns:a="http://schemas.openxmlformats.org/drawingml/2006/main">
            <a:r>
              <a:t>https://github.com/BAITC-Hacks/hack-0c0b9665-ascension/blob/5ef36e0efc562360c58d0730e3d10f96f68cafbf/tests/simulator.acceptance.test.js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Снимок проекта: удалённый main 5ef36e0efc562360c58d0730e3d10f96f68cafbf, 23 сентября 2026, 16:48 GMT+5. Числовое ядро перепроверено на 3562cce и не изменилось в последующей дельте. Публичный SHA не установлен этой проверкой.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https://github.com/BAITC-Hacks/hack-0c0b9665-ascension/blob/5ef36e0efc562360c58d0730e3d10f96f68cafbf/docs/architecture.md</a:t>
            </a:r>
          </a:p>
          <a:p xmlns:a="http://schemas.openxmlformats.org/drawingml/2006/main">
            <a:r>
              <a:t>https://github.com/BAITC-Hacks/hack-0c0b9665-ascension/blob/5ef36e0efc562360c58d0730e3d10f96f68cafbf/docs/integration-contract.md</a:t>
            </a:r>
          </a:p>
          <a:p xmlns:a="http://schemas.openxmlformats.org/drawingml/2006/main">
            <a:r>
              <a:t>https://github.com/BAITC-Hacks/hack-0c0b9665-ascension/blob/5ef36e0efc562360c58d0730e3d10f96f68cafbf/docs/ai-grounding.md</a:t>
            </a:r>
          </a:p>
          <a:p xmlns:a="http://schemas.openxmlformats.org/drawingml/2006/main">
            <a:r>
              <a:t>https://github.com/BAITC-Hacks/hack-0c0b9665-ascension/blob/5ef36e0efc562360c58d0730e3d10f96f68cafbf/docs/citizen-contract.md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Снимок проекта: удалённый main 5ef36e0efc562360c58d0730e3d10f96f68cafbf, 23 сентября 2026, 16:48 GMT+5. Числовое ядро перепроверено на 3562cce и не изменилось в последующей дельте. Публичный SHA не установлен этой проверкой.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https://github.com/BAITC-Hacks/hack-0c0b9665-ascension/blob/5ef36e0efc562360c58d0730e3d10f96f68cafbf/docs/workspace.md</a:t>
            </a:r>
          </a:p>
          <a:p xmlns:a="http://schemas.openxmlformats.org/drawingml/2006/main">
            <a:r>
              <a:t>https://github.com/BAITC-Hacks/hack-0c0b9665-ascension/blob/5ef36e0efc562360c58d0730e3d10f96f68cafbf/docs/operator-integration.md</a:t>
            </a:r>
          </a:p>
          <a:p xmlns:a="http://schemas.openxmlformats.org/drawingml/2006/main">
            <a:r>
              <a:t>https://github.com/BAITC-Hacks/hack-0c0b9665-ascension/blob/5ef36e0efc562360c58d0730e3d10f96f68cafbf/docs/command-center.md</a:t>
            </a:r>
          </a:p>
          <a:p xmlns:a="http://schemas.openxmlformats.org/drawingml/2006/main">
            <a:r>
              <a:t>https://github.com/BAITC-Hacks/hack-0c0b9665-ascension/blob/5ef36e0efc562360c58d0730e3d10f96f68cafbf/src/worker.js</a:t>
            </a:r>
          </a:p>
          <a:p xmlns:a="http://schemas.openxmlformats.org/drawingml/2006/main">
            <a:r>
              <a:t>https://ascension-city-map.azamatbreach.workers.dev/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Снимок проекта: удалённый main 5ef36e0efc562360c58d0730e3d10f96f68cafbf, 23 сентября 2026, 16:48 GMT+5. Числовое ядро перепроверено на 3562cce и не изменилось в последующей дельте. Публичный SHA не установлен этой проверкой.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https://github.com/BAITC-Hacks/hack-0c0b9665-ascension/commits/5ef36e0efc562360c58d0730e3d10f96f68cafbf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Снимок проекта: удалённый main 5ef36e0efc562360c58d0730e3d10f96f68cafbf, 23 сентября 2026, 16:48 GMT+5. Числовое ядро перепроверено на 3562cce и не изменилось в последующей дельте. Публичный SHA не установлен этой проверкой.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https://github.com/BAITC-Hacks/hack-0c0b9665-ascension/blob/5ef36e0efc562360c58d0730e3d10f96f68cafbf/docs/command-center.md</a:t>
            </a:r>
          </a:p>
          <a:p xmlns:a="http://schemas.openxmlformats.org/drawingml/2006/main">
            <a:r>
              <a:t>https://github.com/BAITC-Hacks/hack-0c0b9665-ascension/blob/5ef36e0efc562360c58d0730e3d10f96f68cafbf/docs/ascension-plan-contract.md</a:t>
            </a:r>
          </a:p>
          <a:p xmlns:a="http://schemas.openxmlformats.org/drawingml/2006/main">
            <a:r>
              <a:t>https://github.com/BAITC-Hacks/hack-0c0b9665-ascension/blob/5ef36e0efc562360c58d0730e3d10f96f68cafbf/docs/trajectory-model.md</a:t>
            </a:r>
          </a:p>
          <a:p xmlns:a="http://schemas.openxmlformats.org/drawingml/2006/main">
            <a:r>
              <a:t>https://github.com/BAITC-Hacks/hack-0c0b9665-ascension/blob/5ef36e0efc562360c58d0730e3d10f96f68cafbf/docs/self-hosting.md</a:t>
            </a:r>
          </a:p>
          <a:p xmlns:a="http://schemas.openxmlformats.org/drawingml/2006/main">
            <a:r>
              <a:t>https://github.com/BAITC-Hacks/hack-0c0b9665-ascension/blob/5ef36e0efc562360c58d0730e3d10f96f68cafbf/src/http/api.js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Снимок проекта: удалённый main 5ef36e0efc562360c58d0730e3d10f96f68cafbf, 23 сентября 2026, 16:48 GMT+5. Числовое ядро перепроверено на 3562cce и не изменилось в последующей дельте. Публичный SHA не установлен этой проверкой.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https://github.com/BAITC-Hacks/hack-0c0b9665-ascension/blob/5ef36e0efc562360c58d0730e3d10f96f68cafbf/README.md</a:t>
            </a:r>
          </a:p>
          <a:p xmlns:a="http://schemas.openxmlformats.org/drawingml/2006/main">
            <a:r>
              <a:t>https://github.com/BAITC-Hacks/hack-0c0b9665-ascension/blob/5ef36e0efc562360c58d0730e3d10f96f68cafbf/docs/ai-grounding.md</a:t>
            </a:r>
          </a:p>
          <a:p xmlns:a="http://schemas.openxmlformats.org/drawingml/2006/main">
            <a:r>
              <a:t>https://github.com/BAITC-Hacks/hack-0c0b9665-ascension/blob/5ef36e0efc562360c58d0730e3d10f96f68cafbf/docs/policy-options.md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Снимок проекта: удалённый main 5ef36e0efc562360c58d0730e3d10f96f68cafbf, 23 сентября 2026, 16:48 GMT+5. Числовое ядро перепроверено на 3562cce и не изменилось в последующей дельте. Публичный SHA не установлен этой проверкой.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8fedffbbaf40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7dccfd6cbe4d9c" /><Relationship Type="http://schemas.openxmlformats.org/officeDocument/2006/relationships/slideLayout" Target="/ppt/slideLayouts/slideLayout1.xml" Id="R35da3997b5b74c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da3997b5b74c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fcf17178e44d2" /><Relationship Type="http://schemas.openxmlformats.org/officeDocument/2006/relationships/image" Target="/ppt/media/image.png" Id="R96d2dddd6a484d39" /><Relationship Type="http://schemas.openxmlformats.org/officeDocument/2006/relationships/notesSlide" Target="/ppt/notesSlides/notesSlide1.xml" Id="R26131ef608684d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2dfe39c71434f" /><Relationship Type="http://schemas.openxmlformats.org/officeDocument/2006/relationships/notesSlide" Target="/ppt/notesSlides/notesSlide2.xml" Id="Ra88c0dfb1fce4b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ec4e3f42744ce" /><Relationship Type="http://schemas.openxmlformats.org/officeDocument/2006/relationships/image" Target="/ppt/media/image.jpeg" Id="R33f561a6c7564028" /><Relationship Type="http://schemas.openxmlformats.org/officeDocument/2006/relationships/notesSlide" Target="/ppt/notesSlides/notesSlide3.xml" Id="R5bfd9477cdf947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d1665d70643ee" /><Relationship Type="http://schemas.openxmlformats.org/officeDocument/2006/relationships/image" Target="/ppt/media/image2.jpeg" Id="R97d2ab6ca98b48c3" /><Relationship Type="http://schemas.openxmlformats.org/officeDocument/2006/relationships/notesSlide" Target="/ppt/notesSlides/notesSlide4.xml" Id="R78a27f21831740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18691fcda44bb" /><Relationship Type="http://schemas.openxmlformats.org/officeDocument/2006/relationships/notesSlide" Target="/ppt/notesSlides/notesSlide5.xml" Id="R4aa83e4078e14c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7661554294065" /><Relationship Type="http://schemas.openxmlformats.org/officeDocument/2006/relationships/notesSlide" Target="/ppt/notesSlides/notesSlide6.xml" Id="R05ff145201cb48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99579681b4def" /><Relationship Type="http://schemas.openxmlformats.org/officeDocument/2006/relationships/notesSlide" Target="/ppt/notesSlides/notesSlide7.xml" Id="R87574271cf4441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1989bf68a4032" /><Relationship Type="http://schemas.openxmlformats.org/officeDocument/2006/relationships/notesSlide" Target="/ppt/notesSlides/notesSlide8.xml" Id="R6f22732820ff41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0a2b2390a4108" /><Relationship Type="http://schemas.openxmlformats.org/officeDocument/2006/relationships/notesSlide" Target="/ppt/notesSlides/notesSlide9.xml" Id="R18ce716b3fd142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b2ceb997d46f8" /><Relationship Type="http://schemas.openxmlformats.org/officeDocument/2006/relationships/notesSlide" Target="/ppt/notesSlides/notesSlide10.xml" Id="Ra91c62f1ab2b4dc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ede9a9e114517" /><Relationship Type="http://schemas.openxmlformats.org/officeDocument/2006/relationships/notesSlide" Target="/ppt/notesSlides/notesSlide11.xml" Id="Rce2d029e28e64b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ca50c1be44060" /><Relationship Type="http://schemas.openxmlformats.org/officeDocument/2006/relationships/notesSlide" Target="/ppt/notesSlides/notesSlide12.xml" Id="Re079bfa5f67b44c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4f13483fa43b1" /><Relationship Type="http://schemas.openxmlformats.org/officeDocument/2006/relationships/notesSlide" Target="/ppt/notesSlides/notesSlide13.xml" Id="R697220ca217643f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6ed773f8b4b3a" /><Relationship Type="http://schemas.openxmlformats.org/officeDocument/2006/relationships/notesSlide" Target="/ppt/notesSlides/notesSlide14.xml" Id="R9803ec647c7149e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e7ec2c9c649e1" /><Relationship Type="http://schemas.openxmlformats.org/officeDocument/2006/relationships/notesSlide" Target="/ppt/notesSlides/notesSlide15.xml" Id="R98c4344d0fbd4fa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599a450974f0b" /><Relationship Type="http://schemas.openxmlformats.org/officeDocument/2006/relationships/notesSlide" Target="/ppt/notesSlides/notesSlide16.xml" Id="Rc5c6f9c442144e2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a67189187461a" /><Relationship Type="http://schemas.openxmlformats.org/officeDocument/2006/relationships/notesSlide" Target="/ppt/notesSlides/notesSlide17.xml" Id="R0633fed55fea47c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d2a92c15642e5" /><Relationship Type="http://schemas.openxmlformats.org/officeDocument/2006/relationships/notesSlide" Target="/ppt/notesSlides/notesSlide18.xml" Id="Rc8886626549a43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6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6CC98962-C33E-4DF0-A051-27639C5B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2C9B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2C9B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2dddd6a484d39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ASCENSION">
            <a:extLst xmlns:a="http://schemas.openxmlformats.org/drawingml/2006/main">
              <a:ext uri="{FF2B5EF4-FFF2-40B4-BE49-F238E27FC236}">
                <a16:creationId xmlns:a16="http://schemas.microsoft.com/office/drawing/2014/main" id="{15DDEABA-D95D-41DE-8E4E-4C6076F2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2C9B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2C9BB"/>
                </a:solidFill>
                <a:latin typeface="Arial"/>
                <a:ea typeface="Arial"/>
                <a:cs typeface="Arial"/>
              </a:rPr>
              <a:t>ASCENSION</a:t>
            </a:r>
          </a:p>
        </p:txBody>
      </p:sp>
      <p:sp>
        <p:nvSpPr>
          <p:cNvPr id="4" name="Аким&#10;на 5 часов">
            <a:extLst xmlns:a="http://schemas.openxmlformats.org/drawingml/2006/main">
              <a:ext uri="{FF2B5EF4-FFF2-40B4-BE49-F238E27FC236}">
                <a16:creationId xmlns:a16="http://schemas.microsoft.com/office/drawing/2014/main" id="{41531C24-E158-4DB1-BB23-8F679F35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49530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Аким</a:t>
            </a:r>
          </a:p>
          <a:p xmlns:a="http://schemas.openxmlformats.org/drawingml/2006/main">
            <a:pPr algn="l">
              <a:defRPr sz="5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 5 часов</a:t>
            </a:r>
          </a:p>
        </p:txBody>
      </p:sp>
      <p:sp>
        <p:nvSpPr>
          <p:cNvPr id="5" name="Симулятор&#10;городских решений">
            <a:extLst xmlns:a="http://schemas.openxmlformats.org/drawingml/2006/main">
              <a:ext uri="{FF2B5EF4-FFF2-40B4-BE49-F238E27FC236}">
                <a16:creationId xmlns:a16="http://schemas.microsoft.com/office/drawing/2014/main" id="{BFC610B0-26C3-473D-89A8-959E068C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400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Симулятор</a:t>
            </a:r>
          </a:p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городских решений</a:t>
            </a:r>
          </a:p>
        </p:txBody>
      </p:sp>
      <p:sp>
        <p:nvSpPr>
          <p:cNvPr id="6" name="HackAlem AI · Кейс №12">
            <a:extLst xmlns:a="http://schemas.openxmlformats.org/drawingml/2006/main">
              <a:ext uri="{FF2B5EF4-FFF2-40B4-BE49-F238E27FC236}">
                <a16:creationId xmlns:a16="http://schemas.microsoft.com/office/drawing/2014/main" id="{B15B60E5-5522-4FB4-9178-F32071ED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2C9B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2C9BB"/>
                </a:solidFill>
                <a:latin typeface="Arial"/>
                <a:ea typeface="Arial"/>
                <a:cs typeface="Arial"/>
              </a:rPr>
              <a:t>HackAlem AI · Кейс №12</a:t>
            </a:r>
          </a:p>
        </p:txBody>
      </p:sp>
    </p:spTree>
    <p:extLst>
      <p:ext uri="{BB962C8B-B14F-4D97-AF65-F5344CB8AC3E}">
        <p14:creationId xmlns:p14="http://schemas.microsoft.com/office/powerpoint/2010/main" val="13634809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Одинаковый бюджет. Разный эффект">
            <a:extLst xmlns:a="http://schemas.openxmlformats.org/drawingml/2006/main">
              <a:ext uri="{FF2B5EF4-FFF2-40B4-BE49-F238E27FC236}">
                <a16:creationId xmlns:a16="http://schemas.microsoft.com/office/drawing/2014/main" id="{C2CCAC8A-4604-4F43-8F70-42337807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143"/>
                </a:solidFill>
                <a:latin typeface="Arial"/>
                <a:ea typeface="Arial"/>
                <a:cs typeface="Arial"/>
              </a:rPr>
              <a:t>Одинаковый бюджет. Разный эффект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2C02BAD8-1EC9-4434-B140-C90DCCC1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Учебные показатели организаторов. 100 у. е. н">
            <a:extLst xmlns:a="http://schemas.openxmlformats.org/drawingml/2006/main">
              <a:ext uri="{FF2B5EF4-FFF2-40B4-BE49-F238E27FC236}">
                <a16:creationId xmlns:a16="http://schemas.microsoft.com/office/drawing/2014/main" id="{0209F50C-143A-4E75-A0A6-3BC1332D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05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Учебные показатели организаторов. 100 у. е. не являются сметой в тенге.</a:t>
            </a:r>
          </a:p>
        </p:txBody>
      </p:sp>
      <p:sp>
        <p:nvSpPr>
          <p:cNvPr id="4" name="100">
            <a:extLst xmlns:a="http://schemas.openxmlformats.org/drawingml/2006/main">
              <a:ext uri="{FF2B5EF4-FFF2-40B4-BE49-F238E27FC236}">
                <a16:creationId xmlns:a16="http://schemas.microsoft.com/office/drawing/2014/main" id="{55E22797-C5F8-41B2-98A8-BBEC52BD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19275"/>
            <a:ext cx="34766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50" b="1">
                <a:solidFill>
                  <a:srgbClr val="176F63"/>
                </a:solidFill>
                <a:latin typeface="Arial"/>
                <a:ea typeface="Arial"/>
                <a:cs typeface="Arial"/>
              </a:defRPr>
            </a:pPr>
            <a:r>
              <a:rPr sz="10050" b="1">
                <a:solidFill>
                  <a:srgbClr val="176F63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" name="условных единиц&#10;на весь город">
            <a:extLst xmlns:a="http://schemas.openxmlformats.org/drawingml/2006/main">
              <a:ext uri="{FF2B5EF4-FFF2-40B4-BE49-F238E27FC236}">
                <a16:creationId xmlns:a16="http://schemas.microsoft.com/office/drawing/2014/main" id="{9BFA239E-112E-4F3F-BE30-E6BACFB2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3333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условных единиц</a:t>
            </a:r>
          </a:p>
          <a:p xmlns:a="http://schemas.openxmlformats.org/drawingml/2006/main">
            <a:pPr algn="l">
              <a:defRPr sz="23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на весь город</a:t>
            </a:r>
          </a:p>
        </p:txBody>
      </p:sp>
      <p:sp>
        <p:nvSpPr>
          <p:cNvPr id="6" name="Куда направить деньги,&#10;если потребности район">
            <a:extLst xmlns:a="http://schemas.openxmlformats.org/drawingml/2006/main">
              <a:ext uri="{FF2B5EF4-FFF2-40B4-BE49-F238E27FC236}">
                <a16:creationId xmlns:a16="http://schemas.microsoft.com/office/drawing/2014/main" id="{002C678D-BB9C-4B67-B5B3-8A854B0E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752600"/>
            <a:ext cx="6667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63143"/>
                </a:solidFill>
                <a:latin typeface="Arial"/>
                <a:ea typeface="Arial"/>
                <a:cs typeface="Arial"/>
              </a:rPr>
              <a:t>Куда направить деньги,</a:t>
            </a:r>
          </a:p>
          <a:p xmlns:a="http://schemas.openxmlformats.org/drawingml/2006/main">
            <a:pPr algn="l">
              <a:defRPr sz="3375" b="1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63143"/>
                </a:solidFill>
                <a:latin typeface="Arial"/>
                <a:ea typeface="Arial"/>
                <a:cs typeface="Arial"/>
              </a:rPr>
              <a:t>если потребности районов</a:t>
            </a:r>
          </a:p>
          <a:p xmlns:a="http://schemas.openxmlformats.org/drawingml/2006/main">
            <a:pPr algn="l">
              <a:defRPr sz="3375" b="1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63143"/>
                </a:solidFill>
                <a:latin typeface="Arial"/>
                <a:ea typeface="Arial"/>
                <a:cs typeface="Arial"/>
              </a:rPr>
              <a:t>не совпадают?</a:t>
            </a:r>
          </a:p>
        </p:txBody>
      </p:sp>
      <p:sp>
        <p:nvSpPr>
          <p:cNvPr id="7" name="Средний результат может скрыть&#10;проблемы слабе">
            <a:extLst xmlns:a="http://schemas.openxmlformats.org/drawingml/2006/main">
              <a:ext uri="{FF2B5EF4-FFF2-40B4-BE49-F238E27FC236}">
                <a16:creationId xmlns:a16="http://schemas.microsoft.com/office/drawing/2014/main" id="{D4FDC082-E5B2-447A-AF54-A1736E02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886200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Средний результат может скрыть</a:t>
            </a:r>
          </a:p>
          <a:p xmlns:a="http://schemas.openxmlformats.org/drawingml/2006/main">
            <a:pPr algn="l">
              <a:defRPr sz="2475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проблемы слабейшего района.</a:t>
            </a:r>
          </a:p>
        </p:txBody>
      </p:sp>
    </p:spTree>
    <p:extLst>
      <p:ext uri="{BB962C8B-B14F-4D97-AF65-F5344CB8AC3E}">
        <p14:creationId xmlns:p14="http://schemas.microsoft.com/office/powerpoint/2010/main" val="4857613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лан города можно проверить до выбора">
            <a:extLst xmlns:a="http://schemas.openxmlformats.org/drawingml/2006/main">
              <a:ext uri="{FF2B5EF4-FFF2-40B4-BE49-F238E27FC236}">
                <a16:creationId xmlns:a16="http://schemas.microsoft.com/office/drawing/2014/main" id="{419282FA-2E5E-46C8-80A1-B35E40A8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143"/>
                </a:solidFill>
                <a:latin typeface="Arial"/>
                <a:ea typeface="Arial"/>
                <a:cs typeface="Arial"/>
              </a:rPr>
              <a:t>План города можно проверить до выбора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8256EAAB-AE00-4A57-B65C-78AD421D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Реальная география OSM, синтетические показат">
            <a:extLst xmlns:a="http://schemas.openxmlformats.org/drawingml/2006/main">
              <a:ext uri="{FF2B5EF4-FFF2-40B4-BE49-F238E27FC236}">
                <a16:creationId xmlns:a16="http://schemas.microsoft.com/office/drawing/2014/main" id="{0548B686-8FFF-4DBF-A1F8-E5CD21A5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05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Реальная география OSM, синтетические показатели. Движение транспорта демонстрационное.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561a6c7564028"/>
          <a:stretch xmlns:a="http://schemas.openxmlformats.org/drawingml/2006/main"/>
        </p:blipFill>
        <p:spPr>
          <a:xfrm xmlns:a="http://schemas.openxmlformats.org/drawingml/2006/main">
            <a:off x="4562475" y="1558207"/>
            <a:ext cx="7019925" cy="3951136"/>
          </a:xfrm>
          <a:prstGeom xmlns:a="http://schemas.openxmlformats.org/drawingml/2006/main" prst="rect">
            <a:avLst/>
          </a:prstGeom>
        </p:spPr>
      </p:pic>
      <p:sp>
        <p:nvSpPr>
          <p:cNvPr id="5" name="5 районов&#10;14 мероприятий&#10;5 решений в плане">
            <a:extLst xmlns:a="http://schemas.openxmlformats.org/drawingml/2006/main">
              <a:ext uri="{FF2B5EF4-FFF2-40B4-BE49-F238E27FC236}">
                <a16:creationId xmlns:a16="http://schemas.microsoft.com/office/drawing/2014/main" id="{FB56A6BB-15CB-475E-8D02-BB95D356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37433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6F63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6F63"/>
                </a:solidFill>
                <a:latin typeface="Arial"/>
                <a:ea typeface="Arial"/>
                <a:cs typeface="Arial"/>
              </a:rPr>
              <a:t>5 районов</a:t>
            </a:r>
          </a:p>
          <a:p xmlns:a="http://schemas.openxmlformats.org/drawingml/2006/main">
            <a:pPr algn="l">
              <a:defRPr sz="2775" b="1">
                <a:solidFill>
                  <a:srgbClr val="176F63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6F63"/>
                </a:solidFill>
                <a:latin typeface="Arial"/>
                <a:ea typeface="Arial"/>
                <a:cs typeface="Arial"/>
              </a:rPr>
              <a:t>14 мероприятий</a:t>
            </a:r>
          </a:p>
          <a:p xmlns:a="http://schemas.openxmlformats.org/drawingml/2006/main">
            <a:pPr algn="l">
              <a:defRPr sz="2775" b="1">
                <a:solidFill>
                  <a:srgbClr val="176F63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6F63"/>
                </a:solidFill>
                <a:latin typeface="Arial"/>
                <a:ea typeface="Arial"/>
                <a:cs typeface="Arial"/>
              </a:rPr>
              <a:t>5 решений в плане</a:t>
            </a:r>
          </a:p>
        </p:txBody>
      </p:sp>
      <p:sp>
        <p:nvSpPr>
          <p:cNvPr id="6" name="Собрать план&#10;Рассчитать последствия&#10;Сравнить ">
            <a:extLst xmlns:a="http://schemas.openxmlformats.org/drawingml/2006/main">
              <a:ext uri="{FF2B5EF4-FFF2-40B4-BE49-F238E27FC236}">
                <a16:creationId xmlns:a16="http://schemas.microsoft.com/office/drawing/2014/main" id="{4415C922-18BF-4615-B432-55717959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38481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Собрать план</a:t>
            </a:r>
          </a:p>
          <a:p xmlns:a="http://schemas.openxmlformats.org/drawingml/2006/main">
            <a:pPr algn="l">
              <a:defRPr sz="2100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Рассчитать последствия</a:t>
            </a:r>
          </a:p>
          <a:p xmlns:a="http://schemas.openxmlformats.org/drawingml/2006/main">
            <a:pPr algn="l">
              <a:defRPr sz="2100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Сравнить варианты</a:t>
            </a:r>
          </a:p>
          <a:p xmlns:a="http://schemas.openxmlformats.org/drawingml/2006/main">
            <a:pPr algn="l">
              <a:defRPr sz="2100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Обосновать выбор</a:t>
            </a:r>
          </a:p>
        </p:txBody>
      </p:sp>
    </p:spTree>
    <p:extLst>
      <p:ext uri="{BB962C8B-B14F-4D97-AF65-F5344CB8AC3E}">
        <p14:creationId xmlns:p14="http://schemas.microsoft.com/office/powerpoint/2010/main" val="12801971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Официальный пример: Score 56,54">
            <a:extLst xmlns:a="http://schemas.openxmlformats.org/drawingml/2006/main">
              <a:ext uri="{FF2B5EF4-FFF2-40B4-BE49-F238E27FC236}">
                <a16:creationId xmlns:a16="http://schemas.microsoft.com/office/drawing/2014/main" id="{C69C2649-4353-48D7-A02F-3AA1D982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143"/>
                </a:solidFill>
                <a:latin typeface="Arial"/>
                <a:ea typeface="Arial"/>
                <a:cs typeface="Arial"/>
              </a:rPr>
              <a:t>Официальный пример: Score 56,54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1CF0E720-B85E-4B9C-AF68-215527B2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База 52,56. Точные числа перепроверены ядром ">
            <a:extLst xmlns:a="http://schemas.openxmlformats.org/drawingml/2006/main">
              <a:ext uri="{FF2B5EF4-FFF2-40B4-BE49-F238E27FC236}">
                <a16:creationId xmlns:a16="http://schemas.microsoft.com/office/drawing/2014/main" id="{4BF10FB9-85A7-431A-AA25-71772357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05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База 52,56. Точные числа перепроверены ядром main и публичным расчётом 23.09.2026.</a:t>
            </a:r>
          </a:p>
        </p:txBody>
      </p:sp>
      <p:sp>
        <p:nvSpPr>
          <p:cNvPr id="4" name="+3,99">
            <a:extLst xmlns:a="http://schemas.openxmlformats.org/drawingml/2006/main">
              <a:ext uri="{FF2B5EF4-FFF2-40B4-BE49-F238E27FC236}">
                <a16:creationId xmlns:a16="http://schemas.microsoft.com/office/drawing/2014/main" id="{8EB7B444-2786-4560-83C7-D599C7D7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406717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050" b="1">
                <a:solidFill>
                  <a:srgbClr val="176F63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176F63"/>
                </a:solidFill>
                <a:latin typeface="Arial"/>
                <a:ea typeface="Arial"/>
                <a:cs typeface="Arial"/>
              </a:rPr>
              <a:t>+3,99</a:t>
            </a:r>
          </a:p>
        </p:txBody>
      </p:sp>
      <p:sp>
        <p:nvSpPr>
          <p:cNvPr id="5" name="к исходному Score">
            <a:extLst xmlns:a="http://schemas.openxmlformats.org/drawingml/2006/main">
              <a:ext uri="{FF2B5EF4-FFF2-40B4-BE49-F238E27FC236}">
                <a16:creationId xmlns:a16="http://schemas.microsoft.com/office/drawing/2014/main" id="{D2ED8B5B-B9E3-4D2B-8F53-88B3E75C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0350"/>
            <a:ext cx="3962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к исходному Score</a:t>
            </a:r>
          </a:p>
        </p:txBody>
      </p:sp>
      <p:sp>
        <p:nvSpPr>
          <p:cNvPr id="6" name="95 из 100 у. е.&#10;0 критических показателей&#10;Нур">
            <a:extLst xmlns:a="http://schemas.openxmlformats.org/drawingml/2006/main">
              <a:ext uri="{FF2B5EF4-FFF2-40B4-BE49-F238E27FC236}">
                <a16:creationId xmlns:a16="http://schemas.microsoft.com/office/drawing/2014/main" id="{4AFD72F7-DF2B-41A8-B5BA-7CACFD70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42481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95 из 100 у. е.</a:t>
            </a:r>
          </a:p>
          <a:p xmlns:a="http://schemas.openxmlformats.org/drawingml/2006/main">
            <a:pPr algn="l">
              <a:defRPr sz="23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0 критических показателей</a:t>
            </a:r>
          </a:p>
          <a:p xmlns:a="http://schemas.openxmlformats.org/drawingml/2006/main">
            <a:pPr algn="l">
              <a:defRPr sz="23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Нура: с 49,18 до 52,96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2ab6ca98b48c3"/>
          <a:stretch xmlns:a="http://schemas.openxmlformats.org/drawingml/2006/main"/>
        </p:blipFill>
        <p:spPr>
          <a:xfrm xmlns:a="http://schemas.openxmlformats.org/drawingml/2006/main">
            <a:off x="4848225" y="1800549"/>
            <a:ext cx="6734175" cy="379030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8116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Выбор района меняет результат">
            <a:extLst xmlns:a="http://schemas.openxmlformats.org/drawingml/2006/main">
              <a:ext uri="{FF2B5EF4-FFF2-40B4-BE49-F238E27FC236}">
                <a16:creationId xmlns:a16="http://schemas.microsoft.com/office/drawing/2014/main" id="{71ACB8EF-F9A9-4B9D-B5FA-D8F42A7C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143"/>
                </a:solidFill>
                <a:latin typeface="Arial"/>
                <a:ea typeface="Arial"/>
                <a:cs typeface="Arial"/>
              </a:rPr>
              <a:t>Выбор района меняет результат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94F94F6F-430F-41B3-8BBD-9ECD74A6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Остальные четыре меры совпадают. Критическим ">
            <a:extLst xmlns:a="http://schemas.openxmlformats.org/drawingml/2006/main">
              <a:ext uri="{FF2B5EF4-FFF2-40B4-BE49-F238E27FC236}">
                <a16:creationId xmlns:a16="http://schemas.microsoft.com/office/drawing/2014/main" id="{47F1C8BF-7C25-42E8-BAA9-9C18BCEE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05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Остальные четыре меры совпадают. Критическим считается показатель строго ниже 40.</a:t>
            </a:r>
          </a:p>
        </p:txBody>
      </p:sp>
      <p:sp>
        <p:nvSpPr>
          <p:cNvPr id="4" name="Меняем только район для школы и детсада">
            <a:extLst xmlns:a="http://schemas.openxmlformats.org/drawingml/2006/main">
              <a:ext uri="{FF2B5EF4-FFF2-40B4-BE49-F238E27FC236}">
                <a16:creationId xmlns:a16="http://schemas.microsoft.com/office/drawing/2014/main" id="{E0C6F746-8221-4548-8808-D4FC1238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81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Меняем только район для школы и детсада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266950"/>
          <a:ext xmlns:a="http://schemas.openxmlformats.org/drawingml/2006/main" cx="109728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10100"/>
                <a:gridCol w="3181350"/>
                <a:gridCol w="3181350"/>
              </a:tblGrid>
              <a:tr h="6324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176F6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 · школа в Нуре</a:t>
                      </a:r>
                    </a:p>
                  </a:txBody>
                  <a:tcPr marL="91440" marR="91440" marT="45720" marB="45720">
                    <a:solidFill>
                      <a:srgbClr val="176F6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 · школа в Есиле</a:t>
                      </a:r>
                    </a:p>
                  </a:txBody>
                  <a:tcPr marL="91440" marR="91440" marT="45720" marB="45720">
                    <a:solidFill>
                      <a:srgbClr val="176F63"/>
                    </a:solidFill>
                  </a:tcPr>
                </a:tc>
              </a:tr>
              <a:tr h="6324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Стоимость, у. е.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95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95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Общий Score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56,54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55,30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</a:tr>
              <a:tr h="6324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Критические показатели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Оценка Нуры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52,96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51,86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</a:tr>
            </a:tbl>
          </a:graphicData>
        </a:graphic>
      </p:graphicFrame>
      <p:sp>
        <p:nvSpPr>
          <p:cNvPr id="6" name="При равных расходах вариант A сильнее поддерж">
            <a:extLst xmlns:a="http://schemas.openxmlformats.org/drawingml/2006/main">
              <a:ext uri="{FF2B5EF4-FFF2-40B4-BE49-F238E27FC236}">
                <a16:creationId xmlns:a16="http://schemas.microsoft.com/office/drawing/2014/main" id="{FB5DD74E-65C8-4976-A01C-1B6AD891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896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6F6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6F63"/>
                </a:solidFill>
                <a:latin typeface="Arial"/>
                <a:ea typeface="Arial"/>
                <a:cs typeface="Arial"/>
              </a:rPr>
              <a:t>При равных расходах вариант A сильнее поддерживает Нуру</a:t>
            </a:r>
          </a:p>
        </p:txBody>
      </p:sp>
    </p:spTree>
    <p:extLst>
      <p:ext uri="{BB962C8B-B14F-4D97-AF65-F5344CB8AC3E}">
        <p14:creationId xmlns:p14="http://schemas.microsoft.com/office/powerpoint/2010/main" val="5906196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Альтернативы показывают цену компромисса">
            <a:extLst xmlns:a="http://schemas.openxmlformats.org/drawingml/2006/main">
              <a:ext uri="{FF2B5EF4-FFF2-40B4-BE49-F238E27FC236}">
                <a16:creationId xmlns:a16="http://schemas.microsoft.com/office/drawing/2014/main" id="{21B97B84-D594-43B9-B8B9-A14731CC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143"/>
                </a:solidFill>
                <a:latin typeface="Arial"/>
                <a:ea typeface="Arial"/>
                <a:cs typeface="Arial"/>
              </a:rPr>
              <a:t>Альтернативы показывают цену компромисса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188646B0-C3C0-4996-899B-0AD2EE6D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Проверка одной замены без дополнительных закр">
            <a:extLst xmlns:a="http://schemas.openxmlformats.org/drawingml/2006/main">
              <a:ext uri="{FF2B5EF4-FFF2-40B4-BE49-F238E27FC236}">
                <a16:creationId xmlns:a16="http://schemas.microsoft.com/office/drawing/2014/main" id="{257C5CA4-E6D3-48EE-AC84-473D5C78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05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Проверка одной замены без дополнительных закреплений. Поиск не гарантирует глобальный оптимум.</a:t>
            </a:r>
          </a:p>
        </p:txBody>
      </p:sp>
      <p:sp>
        <p:nvSpPr>
          <p:cNvPr id="4" name="181">
            <a:extLst xmlns:a="http://schemas.openxmlformats.org/drawingml/2006/main">
              <a:ext uri="{FF2B5EF4-FFF2-40B4-BE49-F238E27FC236}">
                <a16:creationId xmlns:a16="http://schemas.microsoft.com/office/drawing/2014/main" id="{3618928B-9294-4853-AFAB-E2612E9F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3524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176F63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176F63"/>
                </a:solidFill>
                <a:latin typeface="Arial"/>
                <a:ea typeface="Arial"/>
                <a:cs typeface="Arial"/>
              </a:rPr>
              <a:t>181</a:t>
            </a:r>
          </a:p>
        </p:txBody>
      </p:sp>
      <p:sp>
        <p:nvSpPr>
          <p:cNvPr id="5" name="проверенная замена">
            <a:extLst xmlns:a="http://schemas.openxmlformats.org/drawingml/2006/main">
              <a:ext uri="{FF2B5EF4-FFF2-40B4-BE49-F238E27FC236}">
                <a16:creationId xmlns:a16="http://schemas.microsoft.com/office/drawing/2014/main" id="{32D981DF-B2CB-4279-A9CF-201DCFC2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411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проверенная замена</a:t>
            </a:r>
          </a:p>
        </p:txBody>
      </p:sp>
      <p:sp>
        <p:nvSpPr>
          <p:cNvPr id="6" name="117">
            <a:extLst xmlns:a="http://schemas.openxmlformats.org/drawingml/2006/main">
              <a:ext uri="{FF2B5EF4-FFF2-40B4-BE49-F238E27FC236}">
                <a16:creationId xmlns:a16="http://schemas.microsoft.com/office/drawing/2014/main" id="{0CEB90E2-29D4-4AED-A8C7-473E0615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38300"/>
            <a:ext cx="3333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176F63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176F63"/>
                </a:solidFill>
                <a:latin typeface="Arial"/>
                <a:ea typeface="Arial"/>
                <a:cs typeface="Arial"/>
              </a:rPr>
              <a:t>117</a:t>
            </a:r>
          </a:p>
        </p:txBody>
      </p:sp>
      <p:sp>
        <p:nvSpPr>
          <p:cNvPr id="7" name="допустимых вариантов">
            <a:extLst xmlns:a="http://schemas.openxmlformats.org/drawingml/2006/main">
              <a:ext uri="{FF2B5EF4-FFF2-40B4-BE49-F238E27FC236}">
                <a16:creationId xmlns:a16="http://schemas.microsoft.com/office/drawing/2014/main" id="{C1A3789E-E1FF-4AE7-8DBE-F5C5C56F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813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допустимых вариантов</a:t>
            </a:r>
          </a:p>
        </p:txBody>
      </p:sp>
      <p:sp>
        <p:nvSpPr>
          <p:cNvPr id="8" name="57,21 Score при бюджете 100">
            <a:extLst xmlns:a="http://schemas.openxmlformats.org/drawingml/2006/main">
              <a:ext uri="{FF2B5EF4-FFF2-40B4-BE49-F238E27FC236}">
                <a16:creationId xmlns:a16="http://schemas.microsoft.com/office/drawing/2014/main" id="{3F640AE2-A917-4F8D-B459-A1ABE908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10648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143"/>
                </a:solidFill>
                <a:latin typeface="Arial"/>
                <a:ea typeface="Arial"/>
                <a:cs typeface="Arial"/>
              </a:rPr>
              <a:t>57,21 Score при бюджете 100</a:t>
            </a:r>
          </a:p>
        </p:txBody>
      </p:sp>
      <p:sp>
        <p:nvSpPr>
          <p:cNvPr id="9" name="Замена чистого топлива в Сарыарке на ЛРТ в Ну">
            <a:extLst xmlns:a="http://schemas.openxmlformats.org/drawingml/2006/main">
              <a:ext uri="{FF2B5EF4-FFF2-40B4-BE49-F238E27FC236}">
                <a16:creationId xmlns:a16="http://schemas.microsoft.com/office/drawing/2014/main" id="{C26B3109-57A8-4660-8FFE-E1440EDF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629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Замена чистого топлива в Сарыарке на ЛРТ в Нуре</a:t>
            </a:r>
          </a:p>
          <a:p xmlns:a="http://schemas.openxmlformats.org/drawingml/2006/main">
            <a:pPr algn="l">
              <a:defRPr sz="2250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снижает оценку воздуха Сарыарки с 48,75 до 40.</a:t>
            </a:r>
          </a:p>
        </p:txBody>
      </p:sp>
      <p:sp>
        <p:nvSpPr>
          <p:cNvPr id="10" name="Новые ограничения помогают сохранить выбранны">
            <a:extLst xmlns:a="http://schemas.openxmlformats.org/drawingml/2006/main">
              <a:ext uri="{FF2B5EF4-FFF2-40B4-BE49-F238E27FC236}">
                <a16:creationId xmlns:a16="http://schemas.microsoft.com/office/drawing/2014/main" id="{CC07BFE3-0D2E-4981-AEB8-D54EE08F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6F6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6F63"/>
                </a:solidFill>
                <a:latin typeface="Arial"/>
                <a:ea typeface="Arial"/>
                <a:cs typeface="Arial"/>
              </a:rPr>
              <a:t>Новые ограничения помогают сохранить выбранный приоритет</a:t>
            </a:r>
          </a:p>
        </p:txBody>
      </p:sp>
    </p:spTree>
    <p:extLst>
      <p:ext uri="{BB962C8B-B14F-4D97-AF65-F5344CB8AC3E}">
        <p14:creationId xmlns:p14="http://schemas.microsoft.com/office/powerpoint/2010/main" val="1162346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6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I объясняет рассчитанные факты">
            <a:extLst xmlns:a="http://schemas.openxmlformats.org/drawingml/2006/main">
              <a:ext uri="{FF2B5EF4-FFF2-40B4-BE49-F238E27FC236}">
                <a16:creationId xmlns:a16="http://schemas.microsoft.com/office/drawing/2014/main" id="{78381803-36DF-42FD-81D6-63B3FDF2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объясняет рассчитанные факты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7D156511-375F-49B8-BF1E-756AF1FC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2C9B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2C9B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Без ключа, при лимите или ошибке остаются чис">
            <a:extLst xmlns:a="http://schemas.openxmlformats.org/drawingml/2006/main">
              <a:ext uri="{FF2B5EF4-FFF2-40B4-BE49-F238E27FC236}">
                <a16:creationId xmlns:a16="http://schemas.microsoft.com/office/drawing/2014/main" id="{DD207E0C-C566-485D-AD10-FB226279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05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2C9B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2C9BB"/>
                </a:solidFill>
                <a:latin typeface="Arial"/>
                <a:ea typeface="Arial"/>
                <a:cs typeface="Arial"/>
              </a:rPr>
              <a:t>Без ключа, при лимите или ошибке остаются числа и явно обозначенное расчётное объяснение.</a:t>
            </a:r>
          </a:p>
        </p:txBody>
      </p:sp>
      <p:sp>
        <p:nvSpPr>
          <p:cNvPr id="4" name="Расчётное ядро">
            <a:extLst xmlns:a="http://schemas.openxmlformats.org/drawingml/2006/main">
              <a:ext uri="{FF2B5EF4-FFF2-40B4-BE49-F238E27FC236}">
                <a16:creationId xmlns:a16="http://schemas.microsoft.com/office/drawing/2014/main" id="{6A3762B7-7F46-4C78-A5C9-D9634B34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521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92C9B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92C9BB"/>
                </a:solidFill>
                <a:latin typeface="Arial"/>
                <a:ea typeface="Arial"/>
                <a:cs typeface="Arial"/>
              </a:rPr>
              <a:t>Расчётное ядро</a:t>
            </a:r>
          </a:p>
        </p:txBody>
      </p:sp>
      <p:sp>
        <p:nvSpPr>
          <p:cNvPr id="5" name="Проверяет бюджет и совместимость.&#10;Вычисляет S">
            <a:extLst xmlns:a="http://schemas.openxmlformats.org/drawingml/2006/main">
              <a:ext uri="{FF2B5EF4-FFF2-40B4-BE49-F238E27FC236}">
                <a16:creationId xmlns:a16="http://schemas.microsoft.com/office/drawing/2014/main" id="{219126A9-AA17-490B-8327-81E4FEFC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521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Проверяет бюджет и совместимость.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Вычисляет Score по фиксированным данным.</a:t>
            </a:r>
          </a:p>
        </p:txBody>
      </p:sp>
      <p:sp>
        <p:nvSpPr>
          <p:cNvPr id="6" name="Языковая модель">
            <a:extLst xmlns:a="http://schemas.openxmlformats.org/drawingml/2006/main">
              <a:ext uri="{FF2B5EF4-FFF2-40B4-BE49-F238E27FC236}">
                <a16:creationId xmlns:a16="http://schemas.microsoft.com/office/drawing/2014/main" id="{D6EFCDF0-F486-4FEE-9988-3D954E8B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819275"/>
            <a:ext cx="5114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92C9B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92C9BB"/>
                </a:solidFill>
                <a:latin typeface="Arial"/>
                <a:ea typeface="Arial"/>
                <a:cs typeface="Arial"/>
              </a:rPr>
              <a:t>Языковая модель</a:t>
            </a:r>
          </a:p>
        </p:txBody>
      </p:sp>
      <p:sp>
        <p:nvSpPr>
          <p:cNvPr id="7" name="Объясняет вклад мер и компромиссы&#10;на основе г">
            <a:extLst xmlns:a="http://schemas.openxmlformats.org/drawingml/2006/main">
              <a:ext uri="{FF2B5EF4-FFF2-40B4-BE49-F238E27FC236}">
                <a16:creationId xmlns:a16="http://schemas.microsoft.com/office/drawing/2014/main" id="{2187A02A-7557-486E-A9E7-945D1FFF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90775"/>
            <a:ext cx="51149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Объясняет вклад мер и компромиссы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 основе готового результата.</a:t>
            </a:r>
          </a:p>
        </p:txBody>
      </p:sp>
      <p:sp>
        <p:nvSpPr>
          <p:cNvPr id="8" name="Решение принимает человек">
            <a:extLst xmlns:a="http://schemas.openxmlformats.org/drawingml/2006/main">
              <a:ext uri="{FF2B5EF4-FFF2-40B4-BE49-F238E27FC236}">
                <a16:creationId xmlns:a16="http://schemas.microsoft.com/office/drawing/2014/main" id="{93110270-2BEF-4C59-BE59-850594EE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Решение принимает человек</a:t>
            </a:r>
          </a:p>
        </p:txBody>
      </p:sp>
      <p:sp>
        <p:nvSpPr>
          <p:cNvPr id="9" name="Качественный текст можно сверить с таблицей.&#10;">
            <a:extLst xmlns:a="http://schemas.openxmlformats.org/drawingml/2006/main">
              <a:ext uri="{FF2B5EF4-FFF2-40B4-BE49-F238E27FC236}">
                <a16:creationId xmlns:a16="http://schemas.microsoft.com/office/drawing/2014/main" id="{3D5AD67F-97E3-4C47-A707-D2BAC695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15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92C9B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92C9BB"/>
                </a:solidFill>
                <a:latin typeface="Arial"/>
                <a:ea typeface="Arial"/>
                <a:cs typeface="Arial"/>
              </a:rPr>
              <a:t>Качественный текст можно сверить с таблицей.</a:t>
            </a:r>
          </a:p>
          <a:p xmlns:a="http://schemas.openxmlformats.org/drawingml/2006/main">
            <a:pPr algn="l">
              <a:defRPr sz="2175" b="0">
                <a:solidFill>
                  <a:srgbClr val="92C9B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92C9BB"/>
                </a:solidFill>
                <a:latin typeface="Arial"/>
                <a:ea typeface="Arial"/>
                <a:cs typeface="Arial"/>
              </a:rPr>
              <a:t>Модель не меняет план и не назначает поручения.</a:t>
            </a:r>
          </a:p>
        </p:txBody>
      </p:sp>
    </p:spTree>
    <p:extLst>
      <p:ext uri="{BB962C8B-B14F-4D97-AF65-F5344CB8AC3E}">
        <p14:creationId xmlns:p14="http://schemas.microsoft.com/office/powerpoint/2010/main" val="549570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Решение получает рабочее обоснование">
            <a:extLst xmlns:a="http://schemas.openxmlformats.org/drawingml/2006/main">
              <a:ext uri="{FF2B5EF4-FFF2-40B4-BE49-F238E27FC236}">
                <a16:creationId xmlns:a16="http://schemas.microsoft.com/office/drawing/2014/main" id="{46C5F770-F12F-4B49-8ADB-DF50992C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143"/>
                </a:solidFill>
                <a:latin typeface="Arial"/>
                <a:ea typeface="Arial"/>
                <a:cs typeface="Arial"/>
              </a:rPr>
              <a:t>Решение получает рабочее обоснование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3610D901-F8F7-4A60-9DA5-6FD83B79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Реестр хранит локальные черновики. CAPEX и OP">
            <a:extLst xmlns:a="http://schemas.openxmlformats.org/drawingml/2006/main">
              <a:ext uri="{FF2B5EF4-FFF2-40B4-BE49-F238E27FC236}">
                <a16:creationId xmlns:a16="http://schemas.microsoft.com/office/drawing/2014/main" id="{F212386B-0A3A-4014-85AE-145C2EC4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05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Реестр хранит локальные черновики. CAPEX и OPEX в тенге человек вводит отдельно от бюджета модели.</a:t>
            </a:r>
          </a:p>
        </p:txBody>
      </p:sp>
      <p:sp>
        <p:nvSpPr>
          <p:cNvPr id="4" name="Записка для совещания">
            <a:extLst xmlns:a="http://schemas.openxmlformats.org/drawingml/2006/main">
              <a:ext uri="{FF2B5EF4-FFF2-40B4-BE49-F238E27FC236}">
                <a16:creationId xmlns:a16="http://schemas.microsoft.com/office/drawing/2014/main" id="{6164BC1E-AAA0-41AB-AF61-D7F02886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114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F6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F63"/>
                </a:solidFill>
                <a:latin typeface="Arial"/>
                <a:ea typeface="Arial"/>
                <a:cs typeface="Arial"/>
              </a:rPr>
              <a:t>Записка для совещания</a:t>
            </a:r>
          </a:p>
        </p:txBody>
      </p:sp>
      <p:sp>
        <p:nvSpPr>
          <p:cNvPr id="5" name="Расчёт и сравнение вариантов&#10;в автономном HTM">
            <a:extLst xmlns:a="http://schemas.openxmlformats.org/drawingml/2006/main">
              <a:ext uri="{FF2B5EF4-FFF2-40B4-BE49-F238E27FC236}">
                <a16:creationId xmlns:a16="http://schemas.microsoft.com/office/drawing/2014/main" id="{7EEC8DF7-6E2E-447E-A60A-43723CE6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51149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Расчёт и сравнение вариантов</a:t>
            </a:r>
          </a:p>
          <a:p xmlns:a="http://schemas.openxmlformats.org/drawingml/2006/main">
            <a:pPr algn="l">
              <a:defRPr sz="20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в автономном HTML для печати.</a:t>
            </a:r>
          </a:p>
        </p:txBody>
      </p:sp>
      <p:sp>
        <p:nvSpPr>
          <p:cNvPr id="6" name="Реестр поручений">
            <a:extLst xmlns:a="http://schemas.openxmlformats.org/drawingml/2006/main">
              <a:ext uri="{FF2B5EF4-FFF2-40B4-BE49-F238E27FC236}">
                <a16:creationId xmlns:a16="http://schemas.microsoft.com/office/drawing/2014/main" id="{9155EFC1-77FD-441D-B3FB-18C4ABCF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62125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F6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F63"/>
                </a:solidFill>
                <a:latin typeface="Arial"/>
                <a:ea typeface="Arial"/>
                <a:cs typeface="Arial"/>
              </a:rPr>
              <a:t>Реестр поручений</a:t>
            </a:r>
          </a:p>
        </p:txBody>
      </p:sp>
      <p:sp>
        <p:nvSpPr>
          <p:cNvPr id="7" name="Ответственный, срок, KPI&#10;и подтверждение выпо">
            <a:extLst xmlns:a="http://schemas.openxmlformats.org/drawingml/2006/main">
              <a:ext uri="{FF2B5EF4-FFF2-40B4-BE49-F238E27FC236}">
                <a16:creationId xmlns:a16="http://schemas.microsoft.com/office/drawing/2014/main" id="{C9DC2329-2F2F-4912-8B5E-D3E69CF9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33625"/>
            <a:ext cx="5105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Ответственный, срок, KPI</a:t>
            </a:r>
          </a:p>
          <a:p xmlns:a="http://schemas.openxmlformats.org/drawingml/2006/main">
            <a:pPr algn="l">
              <a:defRPr sz="20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и подтверждение выполнения.</a:t>
            </a:r>
          </a:p>
        </p:txBody>
      </p:sp>
      <p:sp>
        <p:nvSpPr>
          <p:cNvPr id="8" name="Паспорт реализации">
            <a:extLst xmlns:a="http://schemas.openxmlformats.org/drawingml/2006/main">
              <a:ext uri="{FF2B5EF4-FFF2-40B4-BE49-F238E27FC236}">
                <a16:creationId xmlns:a16="http://schemas.microsoft.com/office/drawing/2014/main" id="{A8BF3C32-8C4E-41BD-AB82-026BCB5A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5114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F6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F63"/>
                </a:solidFill>
                <a:latin typeface="Arial"/>
                <a:ea typeface="Arial"/>
                <a:cs typeface="Arial"/>
              </a:rPr>
              <a:t>Паспорт реализации</a:t>
            </a:r>
          </a:p>
        </p:txBody>
      </p:sp>
      <p:sp>
        <p:nvSpPr>
          <p:cNvPr id="9" name="Площадка, CAPEX, OPEX&#10;и явный период расходов">
            <a:extLst xmlns:a="http://schemas.openxmlformats.org/drawingml/2006/main">
              <a:ext uri="{FF2B5EF4-FFF2-40B4-BE49-F238E27FC236}">
                <a16:creationId xmlns:a16="http://schemas.microsoft.com/office/drawing/2014/main" id="{8D2647FD-D3A8-4D19-8EEB-FB5AA0B1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51149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Площадка, CAPEX, OPEX</a:t>
            </a:r>
          </a:p>
          <a:p xmlns:a="http://schemas.openxmlformats.org/drawingml/2006/main">
            <a:pPr algn="l">
              <a:defRPr sz="20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и явный период расходов.</a:t>
            </a:r>
          </a:p>
        </p:txBody>
      </p:sp>
      <p:sp>
        <p:nvSpPr>
          <p:cNvPr id="10" name="Паспорта данных">
            <a:extLst xmlns:a="http://schemas.openxmlformats.org/drawingml/2006/main">
              <a:ext uri="{FF2B5EF4-FFF2-40B4-BE49-F238E27FC236}">
                <a16:creationId xmlns:a16="http://schemas.microsoft.com/office/drawing/2014/main" id="{D95747E8-A7B3-4848-A515-4B82B5B5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4335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F6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F63"/>
                </a:solidFill>
                <a:latin typeface="Arial"/>
                <a:ea typeface="Arial"/>
                <a:cs typeface="Arial"/>
              </a:rPr>
              <a:t>Паспорта данных</a:t>
            </a:r>
          </a:p>
        </p:txBody>
      </p:sp>
      <p:sp>
        <p:nvSpPr>
          <p:cNvPr id="11" name="Источник и дата наблюдения.&#10;Факты для будущей">
            <a:extLst xmlns:a="http://schemas.openxmlformats.org/drawingml/2006/main">
              <a:ext uri="{FF2B5EF4-FFF2-40B4-BE49-F238E27FC236}">
                <a16:creationId xmlns:a16="http://schemas.microsoft.com/office/drawing/2014/main" id="{C0935AAA-A896-4447-95E3-8D9E14D3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5105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Источник и дата наблюдения.</a:t>
            </a:r>
          </a:p>
          <a:p xmlns:a="http://schemas.openxmlformats.org/drawingml/2006/main">
            <a:pPr algn="l">
              <a:defRPr sz="20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Факты для будущей калибровки.</a:t>
            </a:r>
          </a:p>
        </p:txBody>
      </p:sp>
    </p:spTree>
    <p:extLst>
      <p:ext uri="{BB962C8B-B14F-4D97-AF65-F5344CB8AC3E}">
        <p14:creationId xmlns:p14="http://schemas.microsoft.com/office/powerpoint/2010/main" val="13104048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Житель видит судьбу своего обращения">
            <a:extLst xmlns:a="http://schemas.openxmlformats.org/drawingml/2006/main">
              <a:ext uri="{FF2B5EF4-FFF2-40B4-BE49-F238E27FC236}">
                <a16:creationId xmlns:a16="http://schemas.microsoft.com/office/drawing/2014/main" id="{0920914A-59F7-4C4F-9053-4C8497C3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143"/>
                </a:solidFill>
                <a:latin typeface="Arial"/>
                <a:ea typeface="Arial"/>
                <a:cs typeface="Arial"/>
              </a:rPr>
              <a:t>Житель видит судьбу своего обращения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61981071-20B3-432C-8A87-9FAF584D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Локальный веб-путь работает. Облачный backend">
            <a:extLst xmlns:a="http://schemas.openxmlformats.org/drawingml/2006/main">
              <a:ext uri="{FF2B5EF4-FFF2-40B4-BE49-F238E27FC236}">
                <a16:creationId xmlns:a16="http://schemas.microsoft.com/office/drawing/2014/main" id="{7C03DD1F-7ED9-40F1-8301-72F307E3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05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Локальный веб-путь работает. Облачный backend включён в main, публичный запуск ещё требует приёмки.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D6C90A37-DB9D-44A2-B884-0BD030DF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181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6F6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6F6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Обращение">
            <a:extLst xmlns:a="http://schemas.openxmlformats.org/drawingml/2006/main">
              <a:ext uri="{FF2B5EF4-FFF2-40B4-BE49-F238E27FC236}">
                <a16:creationId xmlns:a16="http://schemas.microsoft.com/office/drawing/2014/main" id="{F1B495A8-A8EB-48B9-BFD4-76F31EE8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704975"/>
            <a:ext cx="91535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3143"/>
                </a:solidFill>
                <a:latin typeface="Arial"/>
                <a:ea typeface="Arial"/>
                <a:cs typeface="Arial"/>
              </a:rPr>
              <a:t>Обращение</a:t>
            </a:r>
          </a:p>
        </p:txBody>
      </p:sp>
      <p:sp>
        <p:nvSpPr>
          <p:cNvPr id="6" name="Описание проблемы и согласие на обработку">
            <a:extLst xmlns:a="http://schemas.openxmlformats.org/drawingml/2006/main">
              <a:ext uri="{FF2B5EF4-FFF2-40B4-BE49-F238E27FC236}">
                <a16:creationId xmlns:a16="http://schemas.microsoft.com/office/drawing/2014/main" id="{B6E9B30B-F663-4B58-B318-16AFF31B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7647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Описание проблемы и согласие на обработку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2C582D36-A624-4662-8925-87FEC0AE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1181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6F6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6F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Работа акимата">
            <a:extLst xmlns:a="http://schemas.openxmlformats.org/drawingml/2006/main">
              <a:ext uri="{FF2B5EF4-FFF2-40B4-BE49-F238E27FC236}">
                <a16:creationId xmlns:a16="http://schemas.microsoft.com/office/drawing/2014/main" id="{B3AEE26A-BD31-47BB-A41D-8BF26CDD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152775"/>
            <a:ext cx="91535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3143"/>
                </a:solidFill>
                <a:latin typeface="Arial"/>
                <a:ea typeface="Arial"/>
                <a:cs typeface="Arial"/>
              </a:rPr>
              <a:t>Работа акимата</a:t>
            </a:r>
          </a:p>
        </p:txBody>
      </p:sp>
      <p:sp>
        <p:nvSpPr>
          <p:cNvPr id="9" name="Категория, ответственный, статус и решение">
            <a:extLst xmlns:a="http://schemas.openxmlformats.org/drawingml/2006/main">
              <a:ext uri="{FF2B5EF4-FFF2-40B4-BE49-F238E27FC236}">
                <a16:creationId xmlns:a16="http://schemas.microsoft.com/office/drawing/2014/main" id="{134BE10D-4668-4A47-808D-8AE09E13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72427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Категория, ответственный, статус и решение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05524D0C-BC5E-41E9-864D-6C12F0F0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1181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6F6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6F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Проверка статуса">
            <a:extLst xmlns:a="http://schemas.openxmlformats.org/drawingml/2006/main">
              <a:ext uri="{FF2B5EF4-FFF2-40B4-BE49-F238E27FC236}">
                <a16:creationId xmlns:a16="http://schemas.microsoft.com/office/drawing/2014/main" id="{15BC8A3B-0EED-44E8-B18B-3ABEBC69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600575"/>
            <a:ext cx="91535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63143"/>
                </a:solidFill>
                <a:latin typeface="Arial"/>
                <a:ea typeface="Arial"/>
                <a:cs typeface="Arial"/>
              </a:rPr>
              <a:t>Проверка статуса</a:t>
            </a:r>
          </a:p>
        </p:txBody>
      </p:sp>
      <p:sp>
        <p:nvSpPr>
          <p:cNvPr id="12" name="Номер обращения и личный код жителя">
            <a:extLst xmlns:a="http://schemas.openxmlformats.org/drawingml/2006/main">
              <a:ext uri="{FF2B5EF4-FFF2-40B4-BE49-F238E27FC236}">
                <a16:creationId xmlns:a16="http://schemas.microsoft.com/office/drawing/2014/main" id="{89C82A80-A2A8-425B-B462-EB0F3909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7207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Номер обращения и личный код жителя</a:t>
            </a:r>
          </a:p>
        </p:txBody>
      </p:sp>
    </p:spTree>
    <p:extLst>
      <p:ext uri="{BB962C8B-B14F-4D97-AF65-F5344CB8AC3E}">
        <p14:creationId xmlns:p14="http://schemas.microsoft.com/office/powerpoint/2010/main" val="97071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Свежие коммиты расширили рабочий сценарий">
            <a:extLst xmlns:a="http://schemas.openxmlformats.org/drawingml/2006/main">
              <a:ext uri="{FF2B5EF4-FFF2-40B4-BE49-F238E27FC236}">
                <a16:creationId xmlns:a16="http://schemas.microsoft.com/office/drawing/2014/main" id="{AAEAA27C-7CCC-4633-9F72-B049A282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143"/>
                </a:solidFill>
                <a:latin typeface="Arial"/>
                <a:ea typeface="Arial"/>
                <a:cs typeface="Arial"/>
              </a:rPr>
              <a:t>Свежие коммиты расширили рабочий сценарий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049AC0CF-E740-4C00-80C6-0E9FA095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Удалённый main 5ef36e0, 23.09.2026, 16:48 GMT">
            <a:extLst xmlns:a="http://schemas.openxmlformats.org/drawingml/2006/main">
              <a:ext uri="{FF2B5EF4-FFF2-40B4-BE49-F238E27FC236}">
                <a16:creationId xmlns:a16="http://schemas.microsoft.com/office/drawing/2014/main" id="{2B5533CE-462B-4313-BAF9-C331DC3C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05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Удалённый main 5ef36e0, 23.09.2026, 16:48 GMT+5. Код в main не подтверждает публичное размещение.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3038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33825"/>
                <a:gridCol w="7038975"/>
              </a:tblGrid>
              <a:tr h="7596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Изменение</a:t>
                      </a:r>
                    </a:p>
                  </a:txBody>
                  <a:tcPr marL="91440" marR="91440" marT="45720" marB="45720">
                    <a:solidFill>
                      <a:srgbClr val="176F6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Польза</a:t>
                      </a:r>
                    </a:p>
                  </a:txBody>
                  <a:tcPr marL="91440" marR="91440" marT="45720" marB="45720">
                    <a:solidFill>
                      <a:srgbClr val="176F63"/>
                    </a:solidFill>
                  </a:tcPr>
                </a:tc>
              </a:tr>
              <a:tr h="7596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Операторский путь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Записка, поручения и явный период OPEX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96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Транспорт на карте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Справочник маршрутов и остановок, без GPS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</a:tr>
              <a:tr h="7596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Облачный backend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Хранение обращений и журнал повторов Telegram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Командные функции и AI-план подготовлены как ">
            <a:extLst xmlns:a="http://schemas.openxmlformats.org/drawingml/2006/main">
              <a:ext uri="{FF2B5EF4-FFF2-40B4-BE49-F238E27FC236}">
                <a16:creationId xmlns:a16="http://schemas.microsoft.com/office/drawing/2014/main" id="{A8BA648A-3FF4-4F26-8758-11F27C7E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64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F6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F63"/>
                </a:solidFill>
                <a:latin typeface="Arial"/>
                <a:ea typeface="Arial"/>
                <a:cs typeface="Arial"/>
              </a:rPr>
              <a:t>Командные функции и AI-план подготовлены как модули</a:t>
            </a:r>
          </a:p>
        </p:txBody>
      </p:sp>
      <p:sp>
        <p:nvSpPr>
          <p:cNvPr id="6" name="Их подключение к общему приложению ещё предст">
            <a:extLst xmlns:a="http://schemas.openxmlformats.org/drawingml/2006/main">
              <a:ext uri="{FF2B5EF4-FFF2-40B4-BE49-F238E27FC236}">
                <a16:creationId xmlns:a16="http://schemas.microsoft.com/office/drawing/2014/main" id="{744F4496-D9F0-4B7B-AD47-4ABA34B7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696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Их подключение к общему приложению ещё предстоит.</a:t>
            </a:r>
          </a:p>
        </p:txBody>
      </p:sp>
    </p:spTree>
    <p:extLst>
      <p:ext uri="{BB962C8B-B14F-4D97-AF65-F5344CB8AC3E}">
        <p14:creationId xmlns:p14="http://schemas.microsoft.com/office/powerpoint/2010/main" val="12721676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Следующий шаг: пилот на проверенных данных">
            <a:extLst xmlns:a="http://schemas.openxmlformats.org/drawingml/2006/main">
              <a:ext uri="{FF2B5EF4-FFF2-40B4-BE49-F238E27FC236}">
                <a16:creationId xmlns:a16="http://schemas.microsoft.com/office/drawing/2014/main" id="{1B9B717B-55BE-4DCB-9279-7B3BB8E3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143"/>
                </a:solidFill>
                <a:latin typeface="Arial"/>
                <a:ea typeface="Arial"/>
                <a:cs typeface="Arial"/>
              </a:rPr>
              <a:t>Следующий шаг: пилот на проверенных данных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EF16C152-1252-4F90-9929-063CA975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План развития. Сроки и эффект пилота пока не ">
            <a:extLst xmlns:a="http://schemas.openxmlformats.org/drawingml/2006/main">
              <a:ext uri="{FF2B5EF4-FFF2-40B4-BE49-F238E27FC236}">
                <a16:creationId xmlns:a16="http://schemas.microsoft.com/office/drawing/2014/main" id="{38F3296A-9520-4E6A-AF93-E9347413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05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План развития. Сроки и эффект пилота пока не подтверждены.</a:t>
            </a:r>
          </a:p>
        </p:txBody>
      </p:sp>
      <p:sp>
        <p:nvSpPr>
          <p:cNvPr id="4" name="Сейчас">
            <a:extLst xmlns:a="http://schemas.openxmlformats.org/drawingml/2006/main">
              <a:ext uri="{FF2B5EF4-FFF2-40B4-BE49-F238E27FC236}">
                <a16:creationId xmlns:a16="http://schemas.microsoft.com/office/drawing/2014/main" id="{57372CDA-18C4-45B7-8243-6B3109B8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2876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6F6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F63"/>
                </a:solidFill>
                <a:latin typeface="Arial"/>
                <a:ea typeface="Arial"/>
                <a:cs typeface="Arial"/>
              </a:rPr>
              <a:t>Сейчас</a:t>
            </a:r>
          </a:p>
        </p:txBody>
      </p:sp>
      <p:sp>
        <p:nvSpPr>
          <p:cNvPr id="5" name="Воспроизводимый&#10;учебный симулятор&#10;и локальные">
            <a:extLst xmlns:a="http://schemas.openxmlformats.org/drawingml/2006/main">
              <a:ext uri="{FF2B5EF4-FFF2-40B4-BE49-F238E27FC236}">
                <a16:creationId xmlns:a16="http://schemas.microsoft.com/office/drawing/2014/main" id="{7DC072C4-CF49-40FC-86E7-AE64268E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31813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Воспроизводимый</a:t>
            </a:r>
          </a:p>
          <a:p xmlns:a="http://schemas.openxmlformats.org/drawingml/2006/main">
            <a:pPr algn="l">
              <a:defRPr sz="23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учебный симулятор</a:t>
            </a:r>
          </a:p>
          <a:p xmlns:a="http://schemas.openxmlformats.org/drawingml/2006/main">
            <a:pPr algn="l">
              <a:defRPr sz="23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и локальные обращения</a:t>
            </a:r>
          </a:p>
        </p:txBody>
      </p:sp>
      <p:sp>
        <p:nvSpPr>
          <p:cNvPr id="6" name="Пилот">
            <a:extLst xmlns:a="http://schemas.openxmlformats.org/drawingml/2006/main">
              <a:ext uri="{FF2B5EF4-FFF2-40B4-BE49-F238E27FC236}">
                <a16:creationId xmlns:a16="http://schemas.microsoft.com/office/drawing/2014/main" id="{D1E08E5A-0AB3-4DFA-B0DA-497E67EA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724025"/>
            <a:ext cx="29813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6F6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F63"/>
                </a:solidFill>
                <a:latin typeface="Arial"/>
                <a:ea typeface="Arial"/>
                <a:cs typeface="Arial"/>
              </a:rPr>
              <a:t>Пилот</a:t>
            </a:r>
          </a:p>
        </p:txBody>
      </p:sp>
      <p:sp>
        <p:nvSpPr>
          <p:cNvPr id="7" name="Реальные наблюдения&#10;одного района&#10;и проверка ">
            <a:extLst xmlns:a="http://schemas.openxmlformats.org/drawingml/2006/main">
              <a:ext uri="{FF2B5EF4-FFF2-40B4-BE49-F238E27FC236}">
                <a16:creationId xmlns:a16="http://schemas.microsoft.com/office/drawing/2014/main" id="{36F18702-3465-49F4-8892-64A298A5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19350"/>
            <a:ext cx="32956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Реальные наблюдения</a:t>
            </a:r>
          </a:p>
          <a:p xmlns:a="http://schemas.openxmlformats.org/drawingml/2006/main">
            <a:pPr algn="l">
              <a:defRPr sz="23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одного района</a:t>
            </a:r>
          </a:p>
          <a:p xmlns:a="http://schemas.openxmlformats.org/drawingml/2006/main">
            <a:pPr algn="l">
              <a:defRPr sz="23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и проверка эффектов</a:t>
            </a:r>
          </a:p>
        </p:txBody>
      </p:sp>
      <p:sp>
        <p:nvSpPr>
          <p:cNvPr id="8" name="После проверки">
            <a:extLst xmlns:a="http://schemas.openxmlformats.org/drawingml/2006/main">
              <a:ext uri="{FF2B5EF4-FFF2-40B4-BE49-F238E27FC236}">
                <a16:creationId xmlns:a16="http://schemas.microsoft.com/office/drawing/2014/main" id="{EF679A92-C017-401E-9B46-4E0FD9BA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24025"/>
            <a:ext cx="32670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6F6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F63"/>
                </a:solidFill>
                <a:latin typeface="Arial"/>
                <a:ea typeface="Arial"/>
                <a:cs typeface="Arial"/>
              </a:rPr>
              <a:t>После проверки</a:t>
            </a:r>
          </a:p>
        </p:txBody>
      </p:sp>
      <p:sp>
        <p:nvSpPr>
          <p:cNvPr id="9" name="Командный доступ,&#10;интеграции&#10;и сопровождение">
            <a:extLst xmlns:a="http://schemas.openxmlformats.org/drawingml/2006/main">
              <a:ext uri="{FF2B5EF4-FFF2-40B4-BE49-F238E27FC236}">
                <a16:creationId xmlns:a16="http://schemas.microsoft.com/office/drawing/2014/main" id="{87FB56EF-523F-4235-92B4-AC600DC3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19350"/>
            <a:ext cx="32385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Командный доступ,</a:t>
            </a:r>
          </a:p>
          <a:p xmlns:a="http://schemas.openxmlformats.org/drawingml/2006/main">
            <a:pPr algn="l">
              <a:defRPr sz="23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интеграции</a:t>
            </a:r>
          </a:p>
          <a:p xmlns:a="http://schemas.openxmlformats.org/drawingml/2006/main">
            <a:pPr algn="l">
              <a:defRPr sz="23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и сопровождение</a:t>
            </a:r>
          </a:p>
        </p:txBody>
      </p:sp>
      <p:sp>
        <p:nvSpPr>
          <p:cNvPr id="10" name="Критерий успеха пилота: решение можно объясни">
            <a:extLst xmlns:a="http://schemas.openxmlformats.org/drawingml/2006/main">
              <a:ext uri="{FF2B5EF4-FFF2-40B4-BE49-F238E27FC236}">
                <a16:creationId xmlns:a16="http://schemas.microsoft.com/office/drawing/2014/main" id="{B7419198-FB01-4A38-98DC-7AD0F010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9728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143"/>
                </a:solidFill>
                <a:latin typeface="Arial"/>
                <a:ea typeface="Arial"/>
                <a:cs typeface="Arial"/>
              </a:rPr>
              <a:t>Критерий успеха пилота: решение можно объяснить</a:t>
            </a:r>
          </a:p>
          <a:p xmlns:a="http://schemas.openxmlformats.org/drawingml/2006/main">
            <a:pPr algn="l">
              <a:defRPr sz="2550" b="1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143"/>
                </a:solidFill>
                <a:latin typeface="Arial"/>
                <a:ea typeface="Arial"/>
                <a:cs typeface="Arial"/>
              </a:rPr>
              <a:t>и проверить на согласованных городских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3574309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26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12">
            <a:extLst xmlns:a="http://schemas.openxmlformats.org/drawingml/2006/main">
              <a:ext uri="{FF2B5EF4-FFF2-40B4-BE49-F238E27FC236}">
                <a16:creationId xmlns:a16="http://schemas.microsoft.com/office/drawing/2014/main" id="{F933C7AF-3364-407F-A8B3-3408B49C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2C9B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2C9B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" name="ASCENSION">
            <a:extLst xmlns:a="http://schemas.openxmlformats.org/drawingml/2006/main">
              <a:ext uri="{FF2B5EF4-FFF2-40B4-BE49-F238E27FC236}">
                <a16:creationId xmlns:a16="http://schemas.microsoft.com/office/drawing/2014/main" id="{60BFDDB5-D464-47EA-A378-6E3B7088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2C9B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92C9BB"/>
                </a:solidFill>
                <a:latin typeface="Arial"/>
                <a:ea typeface="Arial"/>
                <a:cs typeface="Arial"/>
              </a:rPr>
              <a:t>ASCENSION</a:t>
            </a:r>
          </a:p>
        </p:txBody>
      </p:sp>
      <p:sp>
        <p:nvSpPr>
          <p:cNvPr id="3" name="Какой план&#10;получит ваш бюджет?">
            <a:extLst xmlns:a="http://schemas.openxmlformats.org/drawingml/2006/main">
              <a:ext uri="{FF2B5EF4-FFF2-40B4-BE49-F238E27FC236}">
                <a16:creationId xmlns:a16="http://schemas.microsoft.com/office/drawing/2014/main" id="{3BCFEE7A-D7CC-44FF-B3A7-20BA2EF0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106584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Какой план</a:t>
            </a:r>
          </a:p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получит ваш бюджет?</a:t>
            </a:r>
          </a:p>
        </p:txBody>
      </p:sp>
      <p:sp>
        <p:nvSpPr>
          <p:cNvPr id="4" name="Покажем два решения за одну минуту">
            <a:extLst xmlns:a="http://schemas.openxmlformats.org/drawingml/2006/main">
              <a:ext uri="{FF2B5EF4-FFF2-40B4-BE49-F238E27FC236}">
                <a16:creationId xmlns:a16="http://schemas.microsoft.com/office/drawing/2014/main" id="{43FF27E4-64F7-4046-9A1F-53EF4AE1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553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92C9BB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92C9BB"/>
                </a:solidFill>
                <a:latin typeface="Arial"/>
                <a:ea typeface="Arial"/>
                <a:cs typeface="Arial"/>
              </a:rPr>
              <a:t>Покажем два решения за одну минуту</a:t>
            </a:r>
          </a:p>
        </p:txBody>
      </p:sp>
      <p:sp>
        <p:nvSpPr>
          <p:cNvPr id="5" name="ascension-city-map.azamatbreach.workers.dev">
            <a:extLst xmlns:a="http://schemas.openxmlformats.org/drawingml/2006/main">
              <a:ext uri="{FF2B5EF4-FFF2-40B4-BE49-F238E27FC236}">
                <a16:creationId xmlns:a16="http://schemas.microsoft.com/office/drawing/2014/main" id="{475DB99E-CA8C-42AD-9F1A-621E7FCE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ascension-city-map.azamatbreach.workers.dev</a:t>
            </a:r>
          </a:p>
        </p:txBody>
      </p:sp>
      <p:sp>
        <p:nvSpPr>
          <p:cNvPr id="6" name="Аким на 5 часов · HackAlem AI">
            <a:extLst xmlns:a="http://schemas.openxmlformats.org/drawingml/2006/main">
              <a:ext uri="{FF2B5EF4-FFF2-40B4-BE49-F238E27FC236}">
                <a16:creationId xmlns:a16="http://schemas.microsoft.com/office/drawing/2014/main" id="{43BFFBA8-B416-4D8B-9330-B5FCA5AE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2C9B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2C9BB"/>
                </a:solidFill>
                <a:latin typeface="Arial"/>
                <a:ea typeface="Arial"/>
                <a:cs typeface="Arial"/>
              </a:rPr>
              <a:t>Аким на 5 часов · HackAlem AI</a:t>
            </a:r>
          </a:p>
        </p:txBody>
      </p:sp>
    </p:spTree>
    <p:extLst>
      <p:ext uri="{BB962C8B-B14F-4D97-AF65-F5344CB8AC3E}">
        <p14:creationId xmlns:p14="http://schemas.microsoft.com/office/powerpoint/2010/main" val="21466317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ложение · Как рассчитывается Score">
            <a:extLst xmlns:a="http://schemas.openxmlformats.org/drawingml/2006/main">
              <a:ext uri="{FF2B5EF4-FFF2-40B4-BE49-F238E27FC236}">
                <a16:creationId xmlns:a16="http://schemas.microsoft.com/office/drawing/2014/main" id="{B37F8918-C572-460D-8A38-071773D0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143"/>
                </a:solidFill>
                <a:latin typeface="Arial"/>
                <a:ea typeface="Arial"/>
                <a:cs typeface="Arial"/>
              </a:rPr>
              <a:t>Приложение · Как рассчитывается Score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05F977BC-B004-4219-B4C7-93792A79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Числа хранятся без округления. Интерфейс окру">
            <a:extLst xmlns:a="http://schemas.openxmlformats.org/drawingml/2006/main">
              <a:ext uri="{FF2B5EF4-FFF2-40B4-BE49-F238E27FC236}">
                <a16:creationId xmlns:a16="http://schemas.microsoft.com/office/drawing/2014/main" id="{FB303985-4DFC-492E-B064-BEF628F8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05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Числа хранятся без округления. Интерфейс округляет итог до двух знаков.</a:t>
            </a:r>
          </a:p>
        </p:txBody>
      </p:sp>
      <p:sp>
        <p:nvSpPr>
          <p:cNvPr id="4" name="0,7 × средняя оценка районов&#10;+ 0,3 × оценка с">
            <a:extLst xmlns:a="http://schemas.openxmlformats.org/drawingml/2006/main">
              <a:ext uri="{FF2B5EF4-FFF2-40B4-BE49-F238E27FC236}">
                <a16:creationId xmlns:a16="http://schemas.microsoft.com/office/drawing/2014/main" id="{C2BA6E43-2EFB-46C4-92AC-4F042296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6F6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6F63"/>
                </a:solidFill>
                <a:latin typeface="Arial"/>
                <a:ea typeface="Arial"/>
                <a:cs typeface="Arial"/>
              </a:rPr>
              <a:t>0,7 × средняя оценка районов</a:t>
            </a:r>
          </a:p>
          <a:p xmlns:a="http://schemas.openxmlformats.org/drawingml/2006/main">
            <a:pPr algn="l">
              <a:defRPr sz="3150" b="1">
                <a:solidFill>
                  <a:srgbClr val="176F6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6F63"/>
                </a:solidFill>
                <a:latin typeface="Arial"/>
                <a:ea typeface="Arial"/>
                <a:cs typeface="Arial"/>
              </a:rPr>
              <a:t>+ 0,3 × оценка слабейшего района</a:t>
            </a:r>
          </a:p>
          <a:p xmlns:a="http://schemas.openxmlformats.org/drawingml/2006/main">
            <a:pPr algn="l">
              <a:defRPr sz="3150" b="1">
                <a:solidFill>
                  <a:srgbClr val="176F6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6F63"/>
                </a:solidFill>
                <a:latin typeface="Arial"/>
                <a:ea typeface="Arial"/>
                <a:cs typeface="Arial"/>
              </a:rPr>
              <a:t>− число критических показателей</a:t>
            </a:r>
          </a:p>
        </p:txBody>
      </p:sp>
      <p:sp>
        <p:nvSpPr>
          <p:cNvPr id="5" name="Средняя оценка учитывает доли населения.&#10;Крит">
            <a:extLst xmlns:a="http://schemas.openxmlformats.org/drawingml/2006/main">
              <a:ext uri="{FF2B5EF4-FFF2-40B4-BE49-F238E27FC236}">
                <a16:creationId xmlns:a16="http://schemas.microsoft.com/office/drawing/2014/main" id="{5B564321-D8A7-45E4-972A-0F047D41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061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Средняя оценка учитывает доли населения.</a:t>
            </a:r>
          </a:p>
          <a:p xmlns:a="http://schemas.openxmlformats.org/drawingml/2006/main">
            <a:pPr algn="l">
              <a:defRPr sz="23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Критический показатель строго ниже 40.</a:t>
            </a:r>
          </a:p>
        </p:txBody>
      </p:sp>
      <p:sp>
        <p:nvSpPr>
          <p:cNvPr id="6" name="Коэффициент реализации: (8 − лаг) / 8. Синерг">
            <a:extLst xmlns:a="http://schemas.openxmlformats.org/drawingml/2006/main">
              <a:ext uri="{FF2B5EF4-FFF2-40B4-BE49-F238E27FC236}">
                <a16:creationId xmlns:a16="http://schemas.microsoft.com/office/drawing/2014/main" id="{34DFCB40-EB72-4B4A-A34A-8059C544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06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Коэффициент реализации: (8 − лаг) / 8. Синергии добавляются отдельно.</a:t>
            </a:r>
          </a:p>
          <a:p xmlns:a="http://schemas.openxmlformats.org/drawingml/2006/main">
            <a:pPr algn="l">
              <a:defRPr sz="1950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Индикаторы ограничены диапазоном 0–100.</a:t>
            </a:r>
          </a:p>
        </p:txBody>
      </p:sp>
    </p:spTree>
    <p:extLst>
      <p:ext uri="{BB962C8B-B14F-4D97-AF65-F5344CB8AC3E}">
        <p14:creationId xmlns:p14="http://schemas.microsoft.com/office/powerpoint/2010/main" val="17922519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Приложение · Устройство приложения">
            <a:extLst xmlns:a="http://schemas.openxmlformats.org/drawingml/2006/main">
              <a:ext uri="{FF2B5EF4-FFF2-40B4-BE49-F238E27FC236}">
                <a16:creationId xmlns:a16="http://schemas.microsoft.com/office/drawing/2014/main" id="{6688AE60-3F10-44BE-9DF2-E3D3C146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143"/>
                </a:solidFill>
                <a:latin typeface="Arial"/>
                <a:ea typeface="Arial"/>
                <a:cs typeface="Arial"/>
              </a:rPr>
              <a:t>Приложение · Устройство приложения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BE4A6959-C25F-4EE1-B012-A2B90232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14775"/>
                <a:gridCol w="7058025"/>
              </a:tblGrid>
              <a:tr h="5987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Слой</a:t>
                      </a:r>
                    </a:p>
                  </a:txBody>
                  <a:tcPr marL="91440" marR="91440" marT="45720" marB="45720">
                    <a:solidFill>
                      <a:srgbClr val="176F6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Роль</a:t>
                      </a:r>
                    </a:p>
                  </a:txBody>
                  <a:tcPr marL="91440" marR="91440" marT="45720" marB="45720">
                    <a:solidFill>
                      <a:srgbClr val="176F63"/>
                    </a:solidFill>
                  </a:tcPr>
                </a:tc>
              </a:tr>
              <a:tr h="5987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Браузер и MapLibre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План, карта, сравнение, локальные черновики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Общий HTTP-слой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входных данных и серверный пересчёт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</a:tr>
              <a:tr h="5987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Детерминированное ядро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Единая формула и фиксированный data/city.json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Web Worker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Предварительный поиск замен на устройстве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</a:tr>
              <a:tr h="5987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OpenAI Responses 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Отдельное объяснение рассчитанных фактов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Node.js / Cloudflare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Локальный сервер / публичный симулятор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62204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риложение · Границы готовности">
            <a:extLst xmlns:a="http://schemas.openxmlformats.org/drawingml/2006/main">
              <a:ext uri="{FF2B5EF4-FFF2-40B4-BE49-F238E27FC236}">
                <a16:creationId xmlns:a16="http://schemas.microsoft.com/office/drawing/2014/main" id="{FA55820B-2ED6-435A-93FE-C221D908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143"/>
                </a:solidFill>
                <a:latin typeface="Arial"/>
                <a:ea typeface="Arial"/>
                <a:cs typeface="Arial"/>
              </a:rPr>
              <a:t>Приложение · Границы готовности</a:t>
            </a:r>
          </a:p>
        </p:txBody>
      </p:sp>
      <p:sp>
        <p:nvSpPr>
          <p:cNvPr id="2" name="15">
            <a:extLst xmlns:a="http://schemas.openxmlformats.org/drawingml/2006/main">
              <a:ext uri="{FF2B5EF4-FFF2-40B4-BE49-F238E27FC236}">
                <a16:creationId xmlns:a16="http://schemas.microsoft.com/office/drawing/2014/main" id="{8D1645C6-6185-4760-AC9A-1A801735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Снимок 23.09.2026, 16:48 GMT+5. Публикацию и ">
            <a:extLst xmlns:a="http://schemas.openxmlformats.org/drawingml/2006/main">
              <a:ext uri="{FF2B5EF4-FFF2-40B4-BE49-F238E27FC236}">
                <a16:creationId xmlns:a16="http://schemas.microsoft.com/office/drawing/2014/main" id="{C13EF8A2-96D0-4905-8C58-C8685067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05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Снимок 23.09.2026, 16:48 GMT+5. Публикацию и миграцию проверяют отдельно от слияния кода.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62425"/>
                <a:gridCol w="6810375"/>
              </a:tblGrid>
              <a:tr h="682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Часть продукта</a:t>
                      </a:r>
                    </a:p>
                  </a:txBody>
                  <a:tcPr marL="91440" marR="91440" marT="45720" marB="45720">
                    <a:solidFill>
                      <a:srgbClr val="176F6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Подтверждённый статус</a:t>
                      </a:r>
                    </a:p>
                  </a:txBody>
                  <a:tcPr marL="91440" marR="91440" marT="45720" marB="45720">
                    <a:solidFill>
                      <a:srgbClr val="176F63"/>
                    </a:solidFill>
                  </a:tcPr>
                </a:tc>
              </a:tr>
              <a:tr h="682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Симулятор и A/B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Воспроизводимые числа и публичное демо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Операторские панели / транспорт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Подключены к интерфейсу в main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</a:tr>
              <a:tr h="682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Веб-обращения и панель акима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Локальный путь; публичный API не подтверждён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Роли / AI-план / динамика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Модули в main, общая интеграция не завершена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</a:tr>
              <a:tr h="6826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Облачный Telegram backend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PR #36 в main; публичный запуск не подтверждён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87355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риложение · Последние изменения">
            <a:extLst xmlns:a="http://schemas.openxmlformats.org/drawingml/2006/main">
              <a:ext uri="{FF2B5EF4-FFF2-40B4-BE49-F238E27FC236}">
                <a16:creationId xmlns:a16="http://schemas.microsoft.com/office/drawing/2014/main" id="{707C013C-ACE1-4F89-87C7-B714485F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143"/>
                </a:solidFill>
                <a:latin typeface="Arial"/>
                <a:ea typeface="Arial"/>
                <a:cs typeface="Arial"/>
              </a:rPr>
              <a:t>Приложение · Последние изменения</a:t>
            </a:r>
          </a:p>
        </p:txBody>
      </p:sp>
      <p:sp>
        <p:nvSpPr>
          <p:cNvPr id="2" name="16">
            <a:extLst xmlns:a="http://schemas.openxmlformats.org/drawingml/2006/main">
              <a:ext uri="{FF2B5EF4-FFF2-40B4-BE49-F238E27FC236}">
                <a16:creationId xmlns:a16="http://schemas.microsoft.com/office/drawing/2014/main" id="{312E3F54-52A0-488D-A339-9C87BC56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Проверены README, git log, код и удалённый ma">
            <a:extLst xmlns:a="http://schemas.openxmlformats.org/drawingml/2006/main">
              <a:ext uri="{FF2B5EF4-FFF2-40B4-BE49-F238E27FC236}">
                <a16:creationId xmlns:a16="http://schemas.microsoft.com/office/drawing/2014/main" id="{3597543C-A328-4BA2-8B1F-0A43EC07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05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Проверены README, git log, код и удалённый main. Ветка Алишера сохранена отдельно, её новый чат не заявлен интегрированным.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704975"/>
          <a:ext xmlns:a="http://schemas.openxmlformats.org/drawingml/2006/main" cx="10972800" cy="4124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52725"/>
                <a:gridCol w="5657850"/>
                <a:gridCol w="2562225"/>
              </a:tblGrid>
              <a:tr h="58918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Коммит / PR</a:t>
                      </a:r>
                    </a:p>
                  </a:txBody>
                  <a:tcPr marL="91440" marR="91440" marT="45720" marB="45720">
                    <a:solidFill>
                      <a:srgbClr val="176F6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Изменение</a:t>
                      </a:r>
                    </a:p>
                  </a:txBody>
                  <a:tcPr marL="91440" marR="91440" marT="45720" marB="45720">
                    <a:solidFill>
                      <a:srgbClr val="176F6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Статус кода</a:t>
                      </a:r>
                    </a:p>
                  </a:txBody>
                  <a:tcPr marL="91440" marR="91440" marT="45720" marB="45720">
                    <a:solidFill>
                      <a:srgbClr val="176F63"/>
                    </a:solidFill>
                  </a:tcPr>
                </a:tc>
              </a:tr>
              <a:tr h="58918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5ef36e0 / #32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Свой сервер, smoke и проверка копии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main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918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4b6f782 / #36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Облачные обращения и журнал Telegram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main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</a:tr>
              <a:tr h="58918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03cd33c / #35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Маршруты и остановки на карте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Подключено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918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e28f185 / #39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Командный центр, AI-план, динамика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Модули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</a:tr>
              <a:tr h="58918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b5602a7 / #37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Оригинальные иллюстрации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Ресурсы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918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3562cce / #34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Схематические сектора районов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143"/>
                          </a:solidFill>
                          <a:latin typeface="Arial"/>
                          <a:ea typeface="Arial"/>
                          <a:cs typeface="Arial"/>
                        </a:rPr>
                        <a:t>Подключено</a:t>
                      </a:r>
                    </a:p>
                  </a:txBody>
                  <a:tcPr marL="91440" marR="91440" marT="45720" marB="45720">
                    <a:solidFill>
                      <a:srgbClr val="EDF1E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83111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иложение · Модули следующего этапа">
            <a:extLst xmlns:a="http://schemas.openxmlformats.org/drawingml/2006/main">
              <a:ext uri="{FF2B5EF4-FFF2-40B4-BE49-F238E27FC236}">
                <a16:creationId xmlns:a16="http://schemas.microsoft.com/office/drawing/2014/main" id="{D6D1AAB8-6F44-469C-8769-7FF40337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143"/>
                </a:solidFill>
                <a:latin typeface="Arial"/>
                <a:ea typeface="Arial"/>
                <a:cs typeface="Arial"/>
              </a:rPr>
              <a:t>Приложение · Модули следующего этапа</a:t>
            </a:r>
          </a:p>
        </p:txBody>
      </p:sp>
      <p:sp>
        <p:nvSpPr>
          <p:cNvPr id="2" name="17">
            <a:extLst xmlns:a="http://schemas.openxmlformats.org/drawingml/2006/main">
              <a:ext uri="{FF2B5EF4-FFF2-40B4-BE49-F238E27FC236}">
                <a16:creationId xmlns:a16="http://schemas.microsoft.com/office/drawing/2014/main" id="{3EC0C4E1-AE1C-4962-8C64-E077ACBC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Код и шаблоны доступны в main. Подключение и ">
            <a:extLst xmlns:a="http://schemas.openxmlformats.org/drawingml/2006/main">
              <a:ext uri="{FF2B5EF4-FFF2-40B4-BE49-F238E27FC236}">
                <a16:creationId xmlns:a16="http://schemas.microsoft.com/office/drawing/2014/main" id="{1744CAC7-B8CC-4EB5-8000-160E9FAF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05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Код и шаблоны доступны в main. Подключение и запуск нужно подтверждать отдельной проверкой.</a:t>
            </a:r>
          </a:p>
        </p:txBody>
      </p:sp>
      <p:sp>
        <p:nvSpPr>
          <p:cNvPr id="4" name="Командный центр">
            <a:extLst xmlns:a="http://schemas.openxmlformats.org/drawingml/2006/main">
              <a:ext uri="{FF2B5EF4-FFF2-40B4-BE49-F238E27FC236}">
                <a16:creationId xmlns:a16="http://schemas.microsoft.com/office/drawing/2014/main" id="{359241CC-E2C3-450E-86E0-8C3734F5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124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F6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F63"/>
                </a:solidFill>
                <a:latin typeface="Arial"/>
                <a:ea typeface="Arial"/>
                <a:cs typeface="Arial"/>
              </a:rPr>
              <a:t>Командный центр</a:t>
            </a:r>
          </a:p>
        </p:txBody>
      </p:sp>
      <p:sp>
        <p:nvSpPr>
          <p:cNvPr id="5" name="Отдельный интерфейс подготовки плана.&#10;Общее п">
            <a:extLst xmlns:a="http://schemas.openxmlformats.org/drawingml/2006/main">
              <a:ext uri="{FF2B5EF4-FFF2-40B4-BE49-F238E27FC236}">
                <a16:creationId xmlns:a16="http://schemas.microsoft.com/office/drawing/2014/main" id="{4D64E44B-2CB2-4587-B22E-FEF8DCE1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5124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Отдельный интерфейс подготовки плана.</a:t>
            </a:r>
          </a:p>
          <a:p xmlns:a="http://schemas.openxmlformats.org/drawingml/2006/main">
            <a:pPr algn="l">
              <a:defRPr sz="20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Общее подключение ещё предстоит.</a:t>
            </a:r>
          </a:p>
        </p:txBody>
      </p:sp>
      <p:sp>
        <p:nvSpPr>
          <p:cNvPr id="6" name="AI-план и динамика">
            <a:extLst xmlns:a="http://schemas.openxmlformats.org/drawingml/2006/main">
              <a:ext uri="{FF2B5EF4-FFF2-40B4-BE49-F238E27FC236}">
                <a16:creationId xmlns:a16="http://schemas.microsoft.com/office/drawing/2014/main" id="{632CF2FE-4FA3-4135-BF9D-40E8B483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62125"/>
            <a:ext cx="516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F6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F63"/>
                </a:solidFill>
                <a:latin typeface="Arial"/>
                <a:ea typeface="Arial"/>
                <a:cs typeface="Arial"/>
              </a:rPr>
              <a:t>AI-план и динамика</a:t>
            </a:r>
          </a:p>
        </p:txBody>
      </p:sp>
      <p:sp>
        <p:nvSpPr>
          <p:cNvPr id="7" name="Модули предложения мер и расчёта&#10;по кварталам">
            <a:extLst xmlns:a="http://schemas.openxmlformats.org/drawingml/2006/main">
              <a:ext uri="{FF2B5EF4-FFF2-40B4-BE49-F238E27FC236}">
                <a16:creationId xmlns:a16="http://schemas.microsoft.com/office/drawing/2014/main" id="{644C62B2-1306-4162-81D3-00D1933B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33625"/>
            <a:ext cx="5162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Модули предложения мер и расчёта</a:t>
            </a:r>
          </a:p>
          <a:p xmlns:a="http://schemas.openxmlformats.org/drawingml/2006/main">
            <a:pPr algn="l">
              <a:defRPr sz="20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по кварталам. API пока не подключён.</a:t>
            </a:r>
          </a:p>
        </p:txBody>
      </p:sp>
      <p:sp>
        <p:nvSpPr>
          <p:cNvPr id="8" name="Самостоятельный запуск">
            <a:extLst xmlns:a="http://schemas.openxmlformats.org/drawingml/2006/main">
              <a:ext uri="{FF2B5EF4-FFF2-40B4-BE49-F238E27FC236}">
                <a16:creationId xmlns:a16="http://schemas.microsoft.com/office/drawing/2014/main" id="{5C2010F5-2220-490A-A189-6044D52D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519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F6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F63"/>
                </a:solidFill>
                <a:latin typeface="Arial"/>
                <a:ea typeface="Arial"/>
                <a:cs typeface="Arial"/>
              </a:rPr>
              <a:t>Самостоятельный запуск</a:t>
            </a:r>
          </a:p>
        </p:txBody>
      </p:sp>
      <p:sp>
        <p:nvSpPr>
          <p:cNvPr id="9" name="Инструкция Node.js, шаблоны Docker,&#10;systemd и">
            <a:extLst xmlns:a="http://schemas.openxmlformats.org/drawingml/2006/main">
              <a:ext uri="{FF2B5EF4-FFF2-40B4-BE49-F238E27FC236}">
                <a16:creationId xmlns:a16="http://schemas.microsoft.com/office/drawing/2014/main" id="{D7A75865-23C4-44D7-B774-67BB3453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5191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Инструкция Node.js, шаблоны Docker,</a:t>
            </a:r>
          </a:p>
          <a:p xmlns:a="http://schemas.openxmlformats.org/drawingml/2006/main">
            <a:pPr algn="l">
              <a:defRPr sz="20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systemd и HTTPS через Caddy.</a:t>
            </a:r>
          </a:p>
        </p:txBody>
      </p:sp>
      <p:sp>
        <p:nvSpPr>
          <p:cNvPr id="10" name="Проверка резервной копии">
            <a:extLst xmlns:a="http://schemas.openxmlformats.org/drawingml/2006/main">
              <a:ext uri="{FF2B5EF4-FFF2-40B4-BE49-F238E27FC236}">
                <a16:creationId xmlns:a16="http://schemas.microsoft.com/office/drawing/2014/main" id="{B71084AA-A48D-458D-A185-4A12A4B0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43350"/>
            <a:ext cx="5153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F6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F63"/>
                </a:solidFill>
                <a:latin typeface="Arial"/>
                <a:ea typeface="Arial"/>
                <a:cs typeface="Arial"/>
              </a:rPr>
              <a:t>Проверка резервной копии</a:t>
            </a:r>
          </a:p>
        </p:txBody>
      </p:sp>
      <p:sp>
        <p:nvSpPr>
          <p:cNvPr id="11" name="Контроль формата и целостности&#10;без публикации">
            <a:extLst xmlns:a="http://schemas.openxmlformats.org/drawingml/2006/main">
              <a:ext uri="{FF2B5EF4-FFF2-40B4-BE49-F238E27FC236}">
                <a16:creationId xmlns:a16="http://schemas.microsoft.com/office/drawing/2014/main" id="{00729E1B-4009-4D42-A0F8-4404B0C4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51530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Контроль формата и целостности</a:t>
            </a:r>
          </a:p>
          <a:p xmlns:a="http://schemas.openxmlformats.org/drawingml/2006/main">
            <a:pPr algn="l">
              <a:defRPr sz="20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без публикации содержимого.</a:t>
            </a:r>
          </a:p>
        </p:txBody>
      </p:sp>
    </p:spTree>
    <p:extLst>
      <p:ext uri="{BB962C8B-B14F-4D97-AF65-F5344CB8AC3E}">
        <p14:creationId xmlns:p14="http://schemas.microsoft.com/office/powerpoint/2010/main" val="12594729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Приложение · Три вопроса жюри">
            <a:extLst xmlns:a="http://schemas.openxmlformats.org/drawingml/2006/main">
              <a:ext uri="{FF2B5EF4-FFF2-40B4-BE49-F238E27FC236}">
                <a16:creationId xmlns:a16="http://schemas.microsoft.com/office/drawing/2014/main" id="{B1139A85-5FA3-442B-B780-FF39F0C6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143"/>
                </a:solidFill>
                <a:latin typeface="Arial"/>
                <a:ea typeface="Arial"/>
                <a:cs typeface="Arial"/>
              </a:rPr>
              <a:t>Приложение · Три вопроса жюри</a:t>
            </a:r>
          </a:p>
        </p:txBody>
      </p:sp>
      <p:sp>
        <p:nvSpPr>
          <p:cNvPr id="2" name="18">
            <a:extLst xmlns:a="http://schemas.openxmlformats.org/drawingml/2006/main">
              <a:ext uri="{FF2B5EF4-FFF2-40B4-BE49-F238E27FC236}">
                <a16:creationId xmlns:a16="http://schemas.microsoft.com/office/drawing/2014/main" id="{78BC1F3C-5399-412E-96AD-38749094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377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78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Это прогноз для реальной Астаны?">
            <a:extLst xmlns:a="http://schemas.openxmlformats.org/drawingml/2006/main">
              <a:ext uri="{FF2B5EF4-FFF2-40B4-BE49-F238E27FC236}">
                <a16:creationId xmlns:a16="http://schemas.microsoft.com/office/drawing/2014/main" id="{10C78823-DC2D-4F57-85C4-F03B5B32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F6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F63"/>
                </a:solidFill>
                <a:latin typeface="Arial"/>
                <a:ea typeface="Arial"/>
                <a:cs typeface="Arial"/>
              </a:rPr>
              <a:t>Это прогноз для реальной Астаны?</a:t>
            </a:r>
          </a:p>
        </p:txBody>
      </p:sp>
      <p:sp>
        <p:nvSpPr>
          <p:cNvPr id="4" name="Это учебная модель. Для пилота нужны реальные">
            <a:extLst xmlns:a="http://schemas.openxmlformats.org/drawingml/2006/main">
              <a:ext uri="{FF2B5EF4-FFF2-40B4-BE49-F238E27FC236}">
                <a16:creationId xmlns:a16="http://schemas.microsoft.com/office/drawing/2014/main" id="{211C85E4-0846-439E-B22E-29A60AAD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Это учебная модель. Для пилота нужны реальные данные и калибровка.</a:t>
            </a:r>
          </a:p>
        </p:txBody>
      </p:sp>
      <p:sp>
        <p:nvSpPr>
          <p:cNvPr id="5" name="Как вы контролируете ошибки AI?">
            <a:extLst xmlns:a="http://schemas.openxmlformats.org/drawingml/2006/main">
              <a:ext uri="{FF2B5EF4-FFF2-40B4-BE49-F238E27FC236}">
                <a16:creationId xmlns:a16="http://schemas.microsoft.com/office/drawing/2014/main" id="{04D3BAC7-4033-4E81-87BF-1BFE7081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F6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F63"/>
                </a:solidFill>
                <a:latin typeface="Arial"/>
                <a:ea typeface="Arial"/>
                <a:cs typeface="Arial"/>
              </a:rPr>
              <a:t>Как вы контролируете ошибки AI?</a:t>
            </a:r>
          </a:p>
        </p:txBody>
      </p:sp>
      <p:sp>
        <p:nvSpPr>
          <p:cNvPr id="6" name="Числа считает ядро. AI объясняет факты, табли">
            <a:extLst xmlns:a="http://schemas.openxmlformats.org/drawingml/2006/main">
              <a:ext uri="{FF2B5EF4-FFF2-40B4-BE49-F238E27FC236}">
                <a16:creationId xmlns:a16="http://schemas.microsoft.com/office/drawing/2014/main" id="{06A1C42A-7C00-4959-B799-E466FB9A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Числа считает ядро. AI объясняет факты, таблица остаётся проверяемой.</a:t>
            </a:r>
          </a:p>
        </p:txBody>
      </p:sp>
      <p:sp>
        <p:nvSpPr>
          <p:cNvPr id="7" name="Почему лучший Score не всегда лучший выбор?">
            <a:extLst xmlns:a="http://schemas.openxmlformats.org/drawingml/2006/main">
              <a:ext uri="{FF2B5EF4-FFF2-40B4-BE49-F238E27FC236}">
                <a16:creationId xmlns:a16="http://schemas.microsoft.com/office/drawing/2014/main" id="{DE5F5916-B784-45F2-AC54-6AC4C3AD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6F6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F63"/>
                </a:solidFill>
                <a:latin typeface="Arial"/>
                <a:ea typeface="Arial"/>
                <a:cs typeface="Arial"/>
              </a:rPr>
              <a:t>Почему лучший Score не всегда лучший выбор?</a:t>
            </a:r>
          </a:p>
        </p:txBody>
      </p:sp>
      <p:sp>
        <p:nvSpPr>
          <p:cNvPr id="8" name="Отдельный район может проиграть. Приоритеты з">
            <a:extLst xmlns:a="http://schemas.openxmlformats.org/drawingml/2006/main">
              <a:ext uri="{FF2B5EF4-FFF2-40B4-BE49-F238E27FC236}">
                <a16:creationId xmlns:a16="http://schemas.microsoft.com/office/drawing/2014/main" id="{75B7E60C-3CCA-487E-A6D9-28D76324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1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143"/>
                </a:solidFill>
                <a:latin typeface="Arial"/>
                <a:ea typeface="Arial"/>
                <a:cs typeface="Arial"/>
              </a:rPr>
              <a:t>Отдельный район может проиграть. Приоритеты задаёт человек.</a:t>
            </a:r>
          </a:p>
        </p:txBody>
      </p:sp>
    </p:spTree>
    <p:extLst>
      <p:ext uri="{BB962C8B-B14F-4D97-AF65-F5344CB8AC3E}">
        <p14:creationId xmlns:p14="http://schemas.microsoft.com/office/powerpoint/2010/main" val="16513037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2026-09-23T11:54:33.9910000Z</dcterms:created>
  <dcterms:modified xsi:type="dcterms:W3CDTF">2026-09-23T11:54:33.9910000Z</dcterms:modified>
</coreProperties>
</file>